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5"/>
  </p:notesMasterIdLst>
  <p:handoutMasterIdLst>
    <p:handoutMasterId r:id="rId16"/>
  </p:handoutMasterIdLst>
  <p:sldIdLst>
    <p:sldId id="314" r:id="rId5"/>
    <p:sldId id="315" r:id="rId6"/>
    <p:sldId id="318" r:id="rId7"/>
    <p:sldId id="321" r:id="rId8"/>
    <p:sldId id="320" r:id="rId9"/>
    <p:sldId id="323" r:id="rId10"/>
    <p:sldId id="322" r:id="rId11"/>
    <p:sldId id="325" r:id="rId12"/>
    <p:sldId id="326" r:id="rId13"/>
    <p:sldId id="30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5388" autoAdjust="0"/>
  </p:normalViewPr>
  <p:slideViewPr>
    <p:cSldViewPr snapToGrid="0">
      <p:cViewPr varScale="1">
        <p:scale>
          <a:sx n="78" d="100"/>
          <a:sy n="78" d="100"/>
        </p:scale>
        <p:origin x="878" y="72"/>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3/24/2026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3/24/2026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B2699-E54F-91D4-8498-70052F045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DC0A5-A7DD-B7FA-29FA-380A2ECAF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D7655-7B86-14DB-AC1F-48F49D98D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95BF64-19DB-E1E5-CD1A-4DEDAA682635}"/>
              </a:ext>
            </a:extLst>
          </p:cNvPr>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402400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3555126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FCE3B-458E-DFE4-24EC-25F73839D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B3F27-A162-3C51-7082-9DF3E39AB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8682A-6476-FA56-BDB2-6E4BC0115A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6A5D55-A1F2-CFC9-FD52-E4303A7D128F}"/>
              </a:ext>
            </a:extLst>
          </p:cNvPr>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2639923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4962703" y="1494969"/>
            <a:ext cx="7042484" cy="3200400"/>
          </a:xfrm>
        </p:spPr>
        <p:txBody>
          <a:bodyPr>
            <a:normAutofit/>
          </a:bodyPr>
          <a:lstStyle/>
          <a:p>
            <a:r>
              <a:rPr lang="en-GB" sz="5400" dirty="0">
                <a:solidFill>
                  <a:schemeClr val="accent6">
                    <a:lumMod val="40000"/>
                    <a:lumOff val="60000"/>
                  </a:schemeClr>
                </a:solidFill>
                <a:latin typeface="Bahnschrift Condensed" panose="020B0502040204020203" pitchFamily="34" charset="0"/>
              </a:rPr>
              <a:t>Breach of Confidentiality </a:t>
            </a:r>
            <a:br>
              <a:rPr lang="en-GB" sz="5400" dirty="0">
                <a:solidFill>
                  <a:schemeClr val="accent6">
                    <a:lumMod val="40000"/>
                    <a:lumOff val="60000"/>
                  </a:schemeClr>
                </a:solidFill>
                <a:latin typeface="Bahnschrift Condensed" panose="020B0502040204020203" pitchFamily="34" charset="0"/>
              </a:rPr>
            </a:br>
            <a:r>
              <a:rPr lang="en-GB" sz="5400" dirty="0">
                <a:solidFill>
                  <a:schemeClr val="accent6">
                    <a:lumMod val="40000"/>
                    <a:lumOff val="60000"/>
                  </a:schemeClr>
                </a:solidFill>
                <a:latin typeface="Bahnschrift Condensed" panose="020B0502040204020203" pitchFamily="34" charset="0"/>
              </a:rPr>
              <a:t>and Privacy under the IT Act</a:t>
            </a:r>
            <a:endParaRPr lang="en-US" sz="5400" dirty="0">
              <a:latin typeface="Bahnschrift Condensed" panose="020B0502040204020203" pitchFamily="34" charset="0"/>
            </a:endParaRP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3092245" y="9832"/>
            <a:ext cx="5181600" cy="1129072"/>
          </a:xfrm>
        </p:spPr>
        <p:txBody>
          <a:bodyPr/>
          <a:lstStyle/>
          <a:p>
            <a:r>
              <a:rPr lang="en-US" dirty="0"/>
              <a:t>INDEX</a:t>
            </a:r>
            <a:br>
              <a:rPr lang="en-US" dirty="0"/>
            </a:br>
            <a:endParaRPr lang="en-US" dirty="0"/>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2</a:t>
            </a:fld>
            <a:endParaRPr lang="en-US" dirty="0"/>
          </a:p>
        </p:txBody>
      </p:sp>
      <p:graphicFrame>
        <p:nvGraphicFramePr>
          <p:cNvPr id="10" name="Table 9">
            <a:extLst>
              <a:ext uri="{FF2B5EF4-FFF2-40B4-BE49-F238E27FC236}">
                <a16:creationId xmlns:a16="http://schemas.microsoft.com/office/drawing/2014/main" id="{F3BA3E7D-1E17-38F9-3CD5-E708D51F34E2}"/>
              </a:ext>
            </a:extLst>
          </p:cNvPr>
          <p:cNvGraphicFramePr>
            <a:graphicFrameLocks noGrp="1"/>
          </p:cNvGraphicFramePr>
          <p:nvPr>
            <p:extLst>
              <p:ext uri="{D42A27DB-BD31-4B8C-83A1-F6EECF244321}">
                <p14:modId xmlns:p14="http://schemas.microsoft.com/office/powerpoint/2010/main" val="1223057934"/>
              </p:ext>
            </p:extLst>
          </p:nvPr>
        </p:nvGraphicFramePr>
        <p:xfrm>
          <a:off x="633888" y="763741"/>
          <a:ext cx="10098314" cy="4984368"/>
        </p:xfrm>
        <a:graphic>
          <a:graphicData uri="http://schemas.openxmlformats.org/drawingml/2006/table">
            <a:tbl>
              <a:tblPr/>
              <a:tblGrid>
                <a:gridCol w="1757555">
                  <a:extLst>
                    <a:ext uri="{9D8B030D-6E8A-4147-A177-3AD203B41FA5}">
                      <a16:colId xmlns:a16="http://schemas.microsoft.com/office/drawing/2014/main" val="1700937260"/>
                    </a:ext>
                  </a:extLst>
                </a:gridCol>
                <a:gridCol w="8340759">
                  <a:extLst>
                    <a:ext uri="{9D8B030D-6E8A-4147-A177-3AD203B41FA5}">
                      <a16:colId xmlns:a16="http://schemas.microsoft.com/office/drawing/2014/main" val="3293307036"/>
                    </a:ext>
                  </a:extLst>
                </a:gridCol>
              </a:tblGrid>
              <a:tr h="644270">
                <a:tc>
                  <a:txBody>
                    <a:bodyPr/>
                    <a:lstStyle/>
                    <a:p>
                      <a:pPr>
                        <a:buNone/>
                      </a:pPr>
                      <a:r>
                        <a:rPr lang="en-IN" b="1">
                          <a:effectLst/>
                          <a:latin typeface="Google Sans Text"/>
                        </a:rPr>
                        <a:t>NO.</a:t>
                      </a:r>
                      <a:endParaRPr lang="en-IN">
                        <a:effectLst/>
                        <a:latin typeface="Google Sans Text"/>
                      </a:endParaRPr>
                    </a:p>
                  </a:txBody>
                  <a:tcPr anchor="ctr">
                    <a:lnL>
                      <a:noFill/>
                    </a:lnL>
                    <a:lnR>
                      <a:noFill/>
                    </a:lnR>
                    <a:lnT>
                      <a:noFill/>
                    </a:lnT>
                    <a:lnB>
                      <a:noFill/>
                    </a:lnB>
                  </a:tcPr>
                </a:tc>
                <a:tc>
                  <a:txBody>
                    <a:bodyPr/>
                    <a:lstStyle/>
                    <a:p>
                      <a:pPr>
                        <a:buNone/>
                      </a:pPr>
                      <a:r>
                        <a:rPr lang="en-IN" b="1">
                          <a:effectLst/>
                          <a:latin typeface="Google Sans Text"/>
                        </a:rPr>
                        <a:t>TOPIC</a:t>
                      </a:r>
                      <a:endParaRPr lang="en-IN">
                        <a:effectLst/>
                        <a:latin typeface="Google Sans Text"/>
                      </a:endParaRPr>
                    </a:p>
                  </a:txBody>
                  <a:tcPr anchor="ctr">
                    <a:lnL>
                      <a:noFill/>
                    </a:lnL>
                    <a:lnR>
                      <a:noFill/>
                    </a:lnR>
                    <a:lnT>
                      <a:noFill/>
                    </a:lnT>
                    <a:lnB>
                      <a:noFill/>
                    </a:lnB>
                  </a:tcPr>
                </a:tc>
                <a:extLst>
                  <a:ext uri="{0D108BD9-81ED-4DB2-BD59-A6C34878D82A}">
                    <a16:rowId xmlns:a16="http://schemas.microsoft.com/office/drawing/2014/main" val="3654134239"/>
                  </a:ext>
                </a:extLst>
              </a:tr>
              <a:tr h="620014">
                <a:tc>
                  <a:txBody>
                    <a:bodyPr/>
                    <a:lstStyle/>
                    <a:p>
                      <a:pPr>
                        <a:buNone/>
                      </a:pPr>
                      <a:r>
                        <a:rPr lang="en-IN" b="1">
                          <a:effectLst/>
                          <a:latin typeface="Google Sans Text"/>
                        </a:rPr>
                        <a:t>1.</a:t>
                      </a:r>
                      <a:endParaRPr lang="en-IN">
                        <a:effectLst/>
                        <a:latin typeface="Google Sans Text"/>
                      </a:endParaRPr>
                    </a:p>
                  </a:txBody>
                  <a:tcPr anchor="ctr">
                    <a:lnL>
                      <a:noFill/>
                    </a:lnL>
                    <a:lnR>
                      <a:noFill/>
                    </a:lnR>
                    <a:lnT>
                      <a:noFill/>
                    </a:lnT>
                    <a:lnB>
                      <a:noFill/>
                    </a:lnB>
                  </a:tcPr>
                </a:tc>
                <a:tc>
                  <a:txBody>
                    <a:bodyPr/>
                    <a:lstStyle/>
                    <a:p>
                      <a:pPr>
                        <a:buNone/>
                      </a:pPr>
                      <a:r>
                        <a:rPr lang="en-IN" b="1">
                          <a:effectLst/>
                          <a:latin typeface="Google Sans Text"/>
                        </a:rPr>
                        <a:t>INTRODUCTION – IT ACT 2000</a:t>
                      </a:r>
                      <a:endParaRPr lang="en-IN">
                        <a:effectLst/>
                        <a:latin typeface="Google Sans Text"/>
                      </a:endParaRPr>
                    </a:p>
                  </a:txBody>
                  <a:tcPr anchor="ctr">
                    <a:lnL>
                      <a:noFill/>
                    </a:lnL>
                    <a:lnR>
                      <a:noFill/>
                    </a:lnR>
                    <a:lnT>
                      <a:noFill/>
                    </a:lnT>
                    <a:lnB>
                      <a:noFill/>
                    </a:lnB>
                  </a:tcPr>
                </a:tc>
                <a:extLst>
                  <a:ext uri="{0D108BD9-81ED-4DB2-BD59-A6C34878D82A}">
                    <a16:rowId xmlns:a16="http://schemas.microsoft.com/office/drawing/2014/main" val="3558538175"/>
                  </a:ext>
                </a:extLst>
              </a:tr>
              <a:tr h="620014">
                <a:tc>
                  <a:txBody>
                    <a:bodyPr/>
                    <a:lstStyle/>
                    <a:p>
                      <a:pPr>
                        <a:buNone/>
                      </a:pPr>
                      <a:r>
                        <a:rPr lang="en-IN" b="1">
                          <a:effectLst/>
                          <a:latin typeface="Google Sans Text"/>
                        </a:rPr>
                        <a:t>2.</a:t>
                      </a:r>
                      <a:endParaRPr lang="en-IN">
                        <a:effectLst/>
                        <a:latin typeface="Google Sans Text"/>
                      </a:endParaRPr>
                    </a:p>
                  </a:txBody>
                  <a:tcPr anchor="ctr">
                    <a:lnL>
                      <a:noFill/>
                    </a:lnL>
                    <a:lnR>
                      <a:noFill/>
                    </a:lnR>
                    <a:lnT>
                      <a:noFill/>
                    </a:lnT>
                    <a:lnB>
                      <a:noFill/>
                    </a:lnB>
                  </a:tcPr>
                </a:tc>
                <a:tc>
                  <a:txBody>
                    <a:bodyPr/>
                    <a:lstStyle/>
                    <a:p>
                      <a:pPr>
                        <a:buNone/>
                      </a:pPr>
                      <a:r>
                        <a:rPr lang="en-IN" b="1">
                          <a:effectLst/>
                          <a:latin typeface="Google Sans Text"/>
                        </a:rPr>
                        <a:t>IMPORTANT SECTIONS - CONFIDENTIALITY</a:t>
                      </a:r>
                      <a:endParaRPr lang="en-IN">
                        <a:effectLst/>
                        <a:latin typeface="Google Sans Text"/>
                      </a:endParaRPr>
                    </a:p>
                  </a:txBody>
                  <a:tcPr anchor="ctr">
                    <a:lnL>
                      <a:noFill/>
                    </a:lnL>
                    <a:lnR>
                      <a:noFill/>
                    </a:lnR>
                    <a:lnT>
                      <a:noFill/>
                    </a:lnT>
                    <a:lnB>
                      <a:noFill/>
                    </a:lnB>
                  </a:tcPr>
                </a:tc>
                <a:extLst>
                  <a:ext uri="{0D108BD9-81ED-4DB2-BD59-A6C34878D82A}">
                    <a16:rowId xmlns:a16="http://schemas.microsoft.com/office/drawing/2014/main" val="1399217764"/>
                  </a:ext>
                </a:extLst>
              </a:tr>
              <a:tr h="620014">
                <a:tc>
                  <a:txBody>
                    <a:bodyPr/>
                    <a:lstStyle/>
                    <a:p>
                      <a:pPr>
                        <a:buNone/>
                      </a:pPr>
                      <a:r>
                        <a:rPr lang="en-IN" b="1">
                          <a:effectLst/>
                          <a:latin typeface="Google Sans Text"/>
                        </a:rPr>
                        <a:t>3.</a:t>
                      </a:r>
                      <a:endParaRPr lang="en-IN">
                        <a:effectLst/>
                        <a:latin typeface="Google Sans Text"/>
                      </a:endParaRPr>
                    </a:p>
                  </a:txBody>
                  <a:tcPr anchor="ctr">
                    <a:lnL>
                      <a:noFill/>
                    </a:lnL>
                    <a:lnR>
                      <a:noFill/>
                    </a:lnR>
                    <a:lnT>
                      <a:noFill/>
                    </a:lnT>
                    <a:lnB>
                      <a:noFill/>
                    </a:lnB>
                  </a:tcPr>
                </a:tc>
                <a:tc>
                  <a:txBody>
                    <a:bodyPr/>
                    <a:lstStyle/>
                    <a:p>
                      <a:pPr>
                        <a:buNone/>
                      </a:pPr>
                      <a:r>
                        <a:rPr lang="en-IN" b="1" dirty="0">
                          <a:effectLst/>
                          <a:latin typeface="Google Sans Text"/>
                        </a:rPr>
                        <a:t>IMPORTANT SECTIONS - PRIVACY</a:t>
                      </a:r>
                      <a:endParaRPr lang="en-IN" dirty="0">
                        <a:effectLst/>
                        <a:latin typeface="Google Sans Text"/>
                      </a:endParaRPr>
                    </a:p>
                  </a:txBody>
                  <a:tcPr anchor="ctr">
                    <a:lnL>
                      <a:noFill/>
                    </a:lnL>
                    <a:lnR>
                      <a:noFill/>
                    </a:lnR>
                    <a:lnT>
                      <a:noFill/>
                    </a:lnT>
                    <a:lnB>
                      <a:noFill/>
                    </a:lnB>
                  </a:tcPr>
                </a:tc>
                <a:extLst>
                  <a:ext uri="{0D108BD9-81ED-4DB2-BD59-A6C34878D82A}">
                    <a16:rowId xmlns:a16="http://schemas.microsoft.com/office/drawing/2014/main" val="2807164598"/>
                  </a:ext>
                </a:extLst>
              </a:tr>
              <a:tr h="620014">
                <a:tc>
                  <a:txBody>
                    <a:bodyPr/>
                    <a:lstStyle/>
                    <a:p>
                      <a:pPr>
                        <a:buNone/>
                      </a:pPr>
                      <a:r>
                        <a:rPr lang="en-IN" b="1">
                          <a:effectLst/>
                          <a:latin typeface="Google Sans Text"/>
                        </a:rPr>
                        <a:t>4.</a:t>
                      </a:r>
                      <a:endParaRPr lang="en-IN">
                        <a:effectLst/>
                        <a:latin typeface="Google Sans Text"/>
                      </a:endParaRPr>
                    </a:p>
                  </a:txBody>
                  <a:tcPr anchor="ctr">
                    <a:lnL>
                      <a:noFill/>
                    </a:lnL>
                    <a:lnR>
                      <a:noFill/>
                    </a:lnR>
                    <a:lnT>
                      <a:noFill/>
                    </a:lnT>
                    <a:lnB>
                      <a:noFill/>
                    </a:lnB>
                  </a:tcPr>
                </a:tc>
                <a:tc>
                  <a:txBody>
                    <a:bodyPr/>
                    <a:lstStyle/>
                    <a:p>
                      <a:pPr>
                        <a:buNone/>
                      </a:pPr>
                      <a:r>
                        <a:rPr lang="en-US" b="1">
                          <a:effectLst/>
                          <a:latin typeface="Google Sans Text"/>
                        </a:rPr>
                        <a:t>BREACH OF CONFIDENTIALITY AND PRIVACY</a:t>
                      </a:r>
                      <a:endParaRPr lang="en-US">
                        <a:effectLst/>
                        <a:latin typeface="Google Sans Text"/>
                      </a:endParaRPr>
                    </a:p>
                  </a:txBody>
                  <a:tcPr anchor="ctr">
                    <a:lnL>
                      <a:noFill/>
                    </a:lnL>
                    <a:lnR>
                      <a:noFill/>
                    </a:lnR>
                    <a:lnT>
                      <a:noFill/>
                    </a:lnT>
                    <a:lnB>
                      <a:noFill/>
                    </a:lnB>
                  </a:tcPr>
                </a:tc>
                <a:extLst>
                  <a:ext uri="{0D108BD9-81ED-4DB2-BD59-A6C34878D82A}">
                    <a16:rowId xmlns:a16="http://schemas.microsoft.com/office/drawing/2014/main" val="625377457"/>
                  </a:ext>
                </a:extLst>
              </a:tr>
              <a:tr h="620014">
                <a:tc>
                  <a:txBody>
                    <a:bodyPr/>
                    <a:lstStyle/>
                    <a:p>
                      <a:pPr>
                        <a:buNone/>
                      </a:pPr>
                      <a:r>
                        <a:rPr lang="en-IN" b="1">
                          <a:effectLst/>
                          <a:latin typeface="Google Sans Text"/>
                        </a:rPr>
                        <a:t>5.</a:t>
                      </a:r>
                      <a:endParaRPr lang="en-IN">
                        <a:effectLst/>
                        <a:latin typeface="Google Sans Text"/>
                      </a:endParaRPr>
                    </a:p>
                  </a:txBody>
                  <a:tcPr anchor="ctr">
                    <a:lnL>
                      <a:noFill/>
                    </a:lnL>
                    <a:lnR>
                      <a:noFill/>
                    </a:lnR>
                    <a:lnT>
                      <a:noFill/>
                    </a:lnT>
                    <a:lnB>
                      <a:noFill/>
                    </a:lnB>
                  </a:tcPr>
                </a:tc>
                <a:tc>
                  <a:txBody>
                    <a:bodyPr/>
                    <a:lstStyle/>
                    <a:p>
                      <a:pPr>
                        <a:buNone/>
                      </a:pPr>
                      <a:r>
                        <a:rPr lang="en-US" b="1">
                          <a:effectLst/>
                          <a:latin typeface="Google Sans Text"/>
                        </a:rPr>
                        <a:t>HOW THE NEW LAWS WORK WITH THE IT ACT</a:t>
                      </a:r>
                      <a:endParaRPr lang="en-US">
                        <a:effectLst/>
                        <a:latin typeface="Google Sans Text"/>
                      </a:endParaRPr>
                    </a:p>
                  </a:txBody>
                  <a:tcPr anchor="ctr">
                    <a:lnL>
                      <a:noFill/>
                    </a:lnL>
                    <a:lnR>
                      <a:noFill/>
                    </a:lnR>
                    <a:lnT>
                      <a:noFill/>
                    </a:lnT>
                    <a:lnB>
                      <a:noFill/>
                    </a:lnB>
                  </a:tcPr>
                </a:tc>
                <a:extLst>
                  <a:ext uri="{0D108BD9-81ED-4DB2-BD59-A6C34878D82A}">
                    <a16:rowId xmlns:a16="http://schemas.microsoft.com/office/drawing/2014/main" val="1884163929"/>
                  </a:ext>
                </a:extLst>
              </a:tr>
              <a:tr h="620014">
                <a:tc>
                  <a:txBody>
                    <a:bodyPr/>
                    <a:lstStyle/>
                    <a:p>
                      <a:pPr>
                        <a:buNone/>
                      </a:pPr>
                      <a:r>
                        <a:rPr lang="en-IN" b="1">
                          <a:effectLst/>
                          <a:latin typeface="Google Sans Text"/>
                        </a:rPr>
                        <a:t>6.</a:t>
                      </a:r>
                      <a:endParaRPr lang="en-IN">
                        <a:effectLst/>
                        <a:latin typeface="Google Sans Text"/>
                      </a:endParaRPr>
                    </a:p>
                  </a:txBody>
                  <a:tcPr anchor="ctr">
                    <a:lnL>
                      <a:noFill/>
                    </a:lnL>
                    <a:lnR>
                      <a:noFill/>
                    </a:lnR>
                    <a:lnT>
                      <a:noFill/>
                    </a:lnT>
                    <a:lnB>
                      <a:noFill/>
                    </a:lnB>
                  </a:tcPr>
                </a:tc>
                <a:tc>
                  <a:txBody>
                    <a:bodyPr/>
                    <a:lstStyle/>
                    <a:p>
                      <a:pPr>
                        <a:buNone/>
                      </a:pPr>
                      <a:r>
                        <a:rPr lang="en-US" b="1">
                          <a:effectLst/>
                          <a:latin typeface="Google Sans Text"/>
                        </a:rPr>
                        <a:t>RESOLVE: ADDRESSING BREACHES UNDER THE IT ACT</a:t>
                      </a:r>
                      <a:endParaRPr lang="en-US">
                        <a:effectLst/>
                        <a:latin typeface="Google Sans Text"/>
                      </a:endParaRPr>
                    </a:p>
                  </a:txBody>
                  <a:tcPr anchor="ctr">
                    <a:lnL>
                      <a:noFill/>
                    </a:lnL>
                    <a:lnR>
                      <a:noFill/>
                    </a:lnR>
                    <a:lnT>
                      <a:noFill/>
                    </a:lnT>
                    <a:lnB>
                      <a:noFill/>
                    </a:lnB>
                  </a:tcPr>
                </a:tc>
                <a:extLst>
                  <a:ext uri="{0D108BD9-81ED-4DB2-BD59-A6C34878D82A}">
                    <a16:rowId xmlns:a16="http://schemas.microsoft.com/office/drawing/2014/main" val="3247168950"/>
                  </a:ext>
                </a:extLst>
              </a:tr>
              <a:tr h="620014">
                <a:tc>
                  <a:txBody>
                    <a:bodyPr/>
                    <a:lstStyle/>
                    <a:p>
                      <a:pPr>
                        <a:buNone/>
                      </a:pPr>
                      <a:r>
                        <a:rPr lang="en-IN" b="1">
                          <a:effectLst/>
                          <a:latin typeface="Google Sans Text"/>
                        </a:rPr>
                        <a:t>7.</a:t>
                      </a:r>
                      <a:endParaRPr lang="en-IN">
                        <a:effectLst/>
                        <a:latin typeface="Google Sans Text"/>
                      </a:endParaRPr>
                    </a:p>
                  </a:txBody>
                  <a:tcPr anchor="ctr">
                    <a:lnL>
                      <a:noFill/>
                    </a:lnL>
                    <a:lnR>
                      <a:noFill/>
                    </a:lnR>
                    <a:lnT>
                      <a:noFill/>
                    </a:lnT>
                    <a:lnB>
                      <a:noFill/>
                    </a:lnB>
                  </a:tcPr>
                </a:tc>
                <a:tc>
                  <a:txBody>
                    <a:bodyPr/>
                    <a:lstStyle/>
                    <a:p>
                      <a:pPr>
                        <a:buNone/>
                      </a:pPr>
                      <a:r>
                        <a:rPr lang="en-IN" b="1" dirty="0">
                          <a:effectLst/>
                          <a:latin typeface="Google Sans Text"/>
                        </a:rPr>
                        <a:t>PREVENTIVE MEASURES</a:t>
                      </a:r>
                      <a:endParaRPr lang="en-IN" dirty="0">
                        <a:effectLst/>
                        <a:latin typeface="Google Sans Text"/>
                      </a:endParaRPr>
                    </a:p>
                  </a:txBody>
                  <a:tcPr anchor="ctr">
                    <a:lnL>
                      <a:noFill/>
                    </a:lnL>
                    <a:lnR>
                      <a:noFill/>
                    </a:lnR>
                    <a:lnT>
                      <a:noFill/>
                    </a:lnT>
                    <a:lnB>
                      <a:noFill/>
                    </a:lnB>
                  </a:tcPr>
                </a:tc>
                <a:extLst>
                  <a:ext uri="{0D108BD9-81ED-4DB2-BD59-A6C34878D82A}">
                    <a16:rowId xmlns:a16="http://schemas.microsoft.com/office/drawing/2014/main" val="2542413738"/>
                  </a:ext>
                </a:extLst>
              </a:tr>
            </a:tbl>
          </a:graphicData>
        </a:graphic>
      </p:graphicFrame>
    </p:spTree>
    <p:extLst>
      <p:ext uri="{BB962C8B-B14F-4D97-AF65-F5344CB8AC3E}">
        <p14:creationId xmlns:p14="http://schemas.microsoft.com/office/powerpoint/2010/main" val="54205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a:xfrm>
            <a:off x="451247" y="118887"/>
            <a:ext cx="9625264" cy="393290"/>
          </a:xfrm>
        </p:spPr>
        <p:txBody>
          <a:bodyPr>
            <a:noAutofit/>
          </a:bodyPr>
          <a:lstStyle/>
          <a:p>
            <a:br>
              <a:rPr lang="en-GB" sz="3600" dirty="0"/>
            </a:br>
            <a:br>
              <a:rPr lang="en-GB" sz="3600" dirty="0"/>
            </a:br>
            <a:br>
              <a:rPr lang="en-GB" sz="3600" dirty="0"/>
            </a:br>
            <a:r>
              <a:rPr lang="en-US" sz="3600" dirty="0"/>
              <a:t>The Information Technology Act, 2000</a:t>
            </a:r>
            <a:br>
              <a:rPr lang="en-US" sz="3600" dirty="0"/>
            </a:br>
            <a:br>
              <a:rPr lang="en-GB" sz="3600" dirty="0"/>
            </a:br>
            <a:endParaRPr lang="en-US" sz="3600" dirty="0"/>
          </a:p>
        </p:txBody>
      </p:sp>
      <p:sp>
        <p:nvSpPr>
          <p:cNvPr id="3" name="Content Placeholder 2">
            <a:extLst>
              <a:ext uri="{FF2B5EF4-FFF2-40B4-BE49-F238E27FC236}">
                <a16:creationId xmlns:a16="http://schemas.microsoft.com/office/drawing/2014/main" id="{59F97739-E0DF-24F3-7886-013A799A52C3}"/>
              </a:ext>
            </a:extLst>
          </p:cNvPr>
          <p:cNvSpPr>
            <a:spLocks noGrp="1"/>
          </p:cNvSpPr>
          <p:nvPr>
            <p:ph sz="quarter" idx="10"/>
          </p:nvPr>
        </p:nvSpPr>
        <p:spPr>
          <a:xfrm>
            <a:off x="451247" y="967539"/>
            <a:ext cx="10587791" cy="5771574"/>
          </a:xfrm>
        </p:spPr>
        <p:txBody>
          <a:bodyPr>
            <a:noAutofit/>
          </a:bodyPr>
          <a:lstStyle/>
          <a:p>
            <a:pPr marL="0" indent="0">
              <a:buNone/>
            </a:pPr>
            <a:r>
              <a:rPr lang="en-US" sz="2200" b="1" dirty="0">
                <a:latin typeface="+mj-lt"/>
                <a:ea typeface="Microsoft YaHei UI Light" panose="020B0502040204020203" pitchFamily="34" charset="-122"/>
                <a:cs typeface="Times New Roman" panose="02020603050405020304" pitchFamily="18" charset="0"/>
              </a:rPr>
              <a:t>The Information Technology Act, 2000 (IT Act) </a:t>
            </a:r>
            <a:r>
              <a:rPr lang="en-US" sz="2200" dirty="0">
                <a:latin typeface="+mj-lt"/>
                <a:ea typeface="Microsoft YaHei UI Light" panose="020B0502040204020203" pitchFamily="34" charset="-122"/>
                <a:cs typeface="Times New Roman" panose="02020603050405020304" pitchFamily="18" charset="0"/>
              </a:rPr>
              <a:t>is the primary law in India </a:t>
            </a:r>
          </a:p>
          <a:p>
            <a:pPr marL="0" indent="0">
              <a:buNone/>
            </a:pPr>
            <a:r>
              <a:rPr lang="en-US" sz="2200" dirty="0">
                <a:latin typeface="+mj-lt"/>
                <a:ea typeface="Microsoft YaHei UI Light" panose="020B0502040204020203" pitchFamily="34" charset="-122"/>
                <a:cs typeface="Times New Roman" panose="02020603050405020304" pitchFamily="18" charset="0"/>
              </a:rPr>
              <a:t>dealing with cybercrime and electronic commerce. It was enacted on October </a:t>
            </a:r>
          </a:p>
          <a:p>
            <a:pPr marL="0" indent="0">
              <a:buNone/>
            </a:pPr>
            <a:r>
              <a:rPr lang="en-US" sz="2200" dirty="0">
                <a:latin typeface="+mj-lt"/>
                <a:ea typeface="Microsoft YaHei UI Light" panose="020B0502040204020203" pitchFamily="34" charset="-122"/>
                <a:cs typeface="Times New Roman" panose="02020603050405020304" pitchFamily="18" charset="0"/>
              </a:rPr>
              <a:t>17, 2000 with the following objectives:</a:t>
            </a:r>
          </a:p>
          <a:p>
            <a:r>
              <a:rPr lang="en-US" sz="2200" dirty="0">
                <a:latin typeface="+mj-lt"/>
                <a:ea typeface="Microsoft YaHei UI Light" panose="020B0502040204020203" pitchFamily="34" charset="-122"/>
                <a:cs typeface="Times New Roman" panose="02020603050405020304" pitchFamily="18" charset="0"/>
              </a:rPr>
              <a:t>To provide legal recognition for transactions carried out by electronic means (e-commerce)</a:t>
            </a:r>
          </a:p>
          <a:p>
            <a:r>
              <a:rPr lang="en-US" sz="2200" dirty="0">
                <a:latin typeface="+mj-lt"/>
                <a:ea typeface="Microsoft YaHei UI Light" panose="020B0502040204020203" pitchFamily="34" charset="-122"/>
                <a:cs typeface="Times New Roman" panose="02020603050405020304" pitchFamily="18" charset="0"/>
              </a:rPr>
              <a:t>To facilitate electronic filing of documents with government agencies</a:t>
            </a:r>
          </a:p>
          <a:p>
            <a:r>
              <a:rPr lang="en-US" sz="2200" dirty="0">
                <a:latin typeface="+mj-lt"/>
                <a:ea typeface="Microsoft YaHei UI Light" panose="020B0502040204020203" pitchFamily="34" charset="-122"/>
                <a:cs typeface="Times New Roman" panose="02020603050405020304" pitchFamily="18" charset="0"/>
              </a:rPr>
              <a:t>To define and punish cybercrimes</a:t>
            </a:r>
          </a:p>
          <a:p>
            <a:r>
              <a:rPr lang="en-US" sz="2200" dirty="0">
                <a:latin typeface="+mj-lt"/>
                <a:ea typeface="Microsoft YaHei UI Light" panose="020B0502040204020203" pitchFamily="34" charset="-122"/>
                <a:cs typeface="Times New Roman" panose="02020603050405020304" pitchFamily="18" charset="0"/>
              </a:rPr>
              <a:t>The Act was substantially amended in 2008 through the IT (Amendment) Act to address emerging challenges like data protection, cyber terrorism, and intermediary liability</a:t>
            </a:r>
          </a:p>
          <a:p>
            <a:r>
              <a:rPr lang="en-US" sz="2200" dirty="0">
                <a:latin typeface="+mj-lt"/>
                <a:ea typeface="Microsoft YaHei UI Light" panose="020B0502040204020203" pitchFamily="34" charset="-122"/>
                <a:cs typeface="Times New Roman" panose="02020603050405020304" pitchFamily="18" charset="0"/>
              </a:rPr>
              <a:t>To amend existing laws like the Indian Penal Code, Indian Evidence Act, and Reserve Bank of India Act to make them compatible with electronic transactions </a:t>
            </a:r>
          </a:p>
          <a:p>
            <a:pPr marL="0" indent="0">
              <a:buNone/>
            </a:pPr>
            <a:r>
              <a:rPr lang="en-US" sz="2200" dirty="0">
                <a:latin typeface="+mj-lt"/>
                <a:ea typeface="Microsoft YaHei UI Light" panose="020B0502040204020203" pitchFamily="34" charset="-122"/>
                <a:cs typeface="Times New Roman" panose="02020603050405020304" pitchFamily="18" charset="0"/>
              </a:rPr>
              <a:t>(Note: These laws have since been repealed and replaced by the Bharatiya Nyaya Sanhita, 2023 and Bharatiya </a:t>
            </a:r>
            <a:r>
              <a:rPr lang="en-US" sz="2200" dirty="0" err="1">
                <a:latin typeface="+mj-lt"/>
                <a:ea typeface="Microsoft YaHei UI Light" panose="020B0502040204020203" pitchFamily="34" charset="-122"/>
                <a:cs typeface="Times New Roman" panose="02020603050405020304" pitchFamily="18" charset="0"/>
              </a:rPr>
              <a:t>Sakshya</a:t>
            </a:r>
            <a:r>
              <a:rPr lang="en-US" sz="2200" dirty="0">
                <a:latin typeface="+mj-lt"/>
                <a:ea typeface="Microsoft YaHei UI Light" panose="020B0502040204020203" pitchFamily="34" charset="-122"/>
                <a:cs typeface="Times New Roman" panose="02020603050405020304" pitchFamily="18" charset="0"/>
              </a:rPr>
              <a:t> </a:t>
            </a:r>
            <a:r>
              <a:rPr lang="en-US" sz="2200" dirty="0" err="1">
                <a:latin typeface="+mj-lt"/>
                <a:ea typeface="Microsoft YaHei UI Light" panose="020B0502040204020203" pitchFamily="34" charset="-122"/>
                <a:cs typeface="Times New Roman" panose="02020603050405020304" pitchFamily="18" charset="0"/>
              </a:rPr>
              <a:t>Adhiniyam</a:t>
            </a:r>
            <a:r>
              <a:rPr lang="en-US" sz="2200" dirty="0">
                <a:latin typeface="+mj-lt"/>
                <a:ea typeface="Microsoft YaHei UI Light" panose="020B0502040204020203" pitchFamily="34" charset="-122"/>
                <a:cs typeface="Times New Roman" panose="02020603050405020304" pitchFamily="18" charset="0"/>
              </a:rPr>
              <a:t>, 2023)</a:t>
            </a:r>
          </a:p>
          <a:p>
            <a:endParaRPr lang="en-US" sz="2200" dirty="0">
              <a:latin typeface="+mj-lt"/>
              <a:ea typeface="Microsoft YaHei UI Light" panose="020B0502040204020203" pitchFamily="34"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FE0D061-7327-A55C-AF6A-A95C24DD8B72}"/>
              </a:ext>
            </a:extLst>
          </p:cNvPr>
          <p:cNvSpPr>
            <a:spLocks noGrp="1"/>
          </p:cNvSpPr>
          <p:nvPr>
            <p:ph type="sldNum" sz="quarter" idx="4"/>
          </p:nvPr>
        </p:nvSpPr>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412000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9D2E9-1C07-99D0-B87C-2A4AFACFD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E8100-F5C6-3749-2A31-4F342C5E8D4D}"/>
              </a:ext>
            </a:extLst>
          </p:cNvPr>
          <p:cNvSpPr>
            <a:spLocks noGrp="1"/>
          </p:cNvSpPr>
          <p:nvPr>
            <p:ph type="title"/>
          </p:nvPr>
        </p:nvSpPr>
        <p:spPr>
          <a:xfrm>
            <a:off x="914399" y="118766"/>
            <a:ext cx="10363201" cy="723445"/>
          </a:xfrm>
        </p:spPr>
        <p:txBody>
          <a:bodyPr/>
          <a:lstStyle/>
          <a:p>
            <a:r>
              <a:rPr lang="en-IN" dirty="0"/>
              <a:t>IMPORTANT SECTIONS - CONFIDENTIALITY</a:t>
            </a:r>
            <a:endParaRPr lang="en-US" dirty="0"/>
          </a:p>
        </p:txBody>
      </p:sp>
      <p:sp>
        <p:nvSpPr>
          <p:cNvPr id="3" name="Content Placeholder 2">
            <a:extLst>
              <a:ext uri="{FF2B5EF4-FFF2-40B4-BE49-F238E27FC236}">
                <a16:creationId xmlns:a16="http://schemas.microsoft.com/office/drawing/2014/main" id="{BD2955B8-24FE-0456-E0BE-A87E5F4DF8B4}"/>
              </a:ext>
            </a:extLst>
          </p:cNvPr>
          <p:cNvSpPr>
            <a:spLocks noGrp="1"/>
          </p:cNvSpPr>
          <p:nvPr>
            <p:ph sz="quarter" idx="10"/>
          </p:nvPr>
        </p:nvSpPr>
        <p:spPr>
          <a:xfrm>
            <a:off x="432618" y="1017601"/>
            <a:ext cx="10619875" cy="5053263"/>
          </a:xfrm>
        </p:spPr>
        <p:txBody>
          <a:bodyPr>
            <a:noAutofit/>
          </a:bodyPr>
          <a:lstStyle/>
          <a:p>
            <a:pPr marL="0" indent="0">
              <a:buNone/>
            </a:pPr>
            <a:r>
              <a:rPr lang="en-US" sz="2200" dirty="0"/>
              <a:t>Section		         What It's About			Simple Meaning</a:t>
            </a:r>
          </a:p>
          <a:p>
            <a:pPr marL="0" indent="0">
              <a:spcAft>
                <a:spcPts val="500"/>
              </a:spcAft>
              <a:buNone/>
            </a:pPr>
            <a:r>
              <a:rPr lang="en-US" dirty="0"/>
              <a:t>Section 72	Breach of Confidentiality</a:t>
            </a:r>
            <a:r>
              <a:rPr lang="en-US" sz="2400" dirty="0"/>
              <a:t>		</a:t>
            </a:r>
            <a:r>
              <a:rPr lang="en-US" sz="1900" dirty="0"/>
              <a:t>If someone (like a company employee, call 							center agent, or government official) has 							access to your personal electronic records and 						shares them without your permission, they can 						be punished with jail (up to 2 years) or fine (up 						to ₹1 lakh) . This is the key section for privacy     						protection in the IT Act.</a:t>
            </a:r>
          </a:p>
          <a:p>
            <a:pPr marL="0" indent="0">
              <a:spcAft>
                <a:spcPts val="500"/>
              </a:spcAft>
              <a:buNone/>
            </a:pPr>
            <a:endParaRPr lang="en-US" dirty="0"/>
          </a:p>
          <a:p>
            <a:pPr marL="0" indent="0">
              <a:spcAft>
                <a:spcPts val="500"/>
              </a:spcAft>
              <a:buNone/>
            </a:pPr>
            <a:endParaRPr lang="en-US" dirty="0"/>
          </a:p>
          <a:p>
            <a:pPr marL="0" indent="0">
              <a:spcAft>
                <a:spcPts val="500"/>
              </a:spcAft>
              <a:buNone/>
            </a:pPr>
            <a:r>
              <a:rPr lang="en-US" dirty="0"/>
              <a:t>Section 72A	Punishment for Disclosure of 	</a:t>
            </a:r>
            <a:r>
              <a:rPr lang="en-US" sz="1900" dirty="0"/>
              <a:t>This section covers a broader group, </a:t>
            </a:r>
          </a:p>
          <a:p>
            <a:pPr marL="0" indent="0">
              <a:spcAft>
                <a:spcPts val="500"/>
              </a:spcAft>
              <a:buNone/>
            </a:pPr>
            <a:r>
              <a:rPr lang="en-US" dirty="0"/>
              <a:t>		Information in Breach of Lawful   </a:t>
            </a:r>
            <a:r>
              <a:rPr lang="en-US" sz="1900" dirty="0"/>
              <a:t>specifically intermediaries (like </a:t>
            </a:r>
          </a:p>
          <a:p>
            <a:pPr marL="0" indent="0">
              <a:spcAft>
                <a:spcPts val="500"/>
              </a:spcAft>
              <a:buNone/>
            </a:pPr>
            <a:r>
              <a:rPr lang="en-US" dirty="0"/>
              <a:t>		Contract			</a:t>
            </a:r>
            <a:r>
              <a:rPr lang="en-US" sz="1900" dirty="0"/>
              <a:t>internet service providers, cloud platforms,   						or even company employees). If they have 						  	access to your personal information through 						a legal contract and disclose it without your 						consent (or in breach of that contract), they 						can face up to 3 years in prison or a fine up 						  	to ₹5 lakh, or both</a:t>
            </a:r>
            <a:endParaRPr lang="en-IN" sz="1900" dirty="0">
              <a:effectLst/>
            </a:endParaRPr>
          </a:p>
        </p:txBody>
      </p:sp>
      <p:sp>
        <p:nvSpPr>
          <p:cNvPr id="5" name="Slide Number Placeholder 4">
            <a:extLst>
              <a:ext uri="{FF2B5EF4-FFF2-40B4-BE49-F238E27FC236}">
                <a16:creationId xmlns:a16="http://schemas.microsoft.com/office/drawing/2014/main" id="{59858198-CC34-115A-1FC6-3C34661B9123}"/>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176363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586-3F7C-3202-E4F4-1F65B9A7D428}"/>
              </a:ext>
            </a:extLst>
          </p:cNvPr>
          <p:cNvSpPr>
            <a:spLocks noGrp="1"/>
          </p:cNvSpPr>
          <p:nvPr>
            <p:ph type="title"/>
          </p:nvPr>
        </p:nvSpPr>
        <p:spPr>
          <a:xfrm>
            <a:off x="1171073" y="123848"/>
            <a:ext cx="10363201" cy="723445"/>
          </a:xfrm>
        </p:spPr>
        <p:txBody>
          <a:bodyPr/>
          <a:lstStyle/>
          <a:p>
            <a:r>
              <a:rPr lang="en-IN" dirty="0"/>
              <a:t>IMPORTANT SECTIONS - PRIVACY</a:t>
            </a:r>
            <a:endParaRPr lang="en-US" dirty="0"/>
          </a:p>
        </p:txBody>
      </p:sp>
      <p:sp>
        <p:nvSpPr>
          <p:cNvPr id="3" name="Content Placeholder 2">
            <a:extLst>
              <a:ext uri="{FF2B5EF4-FFF2-40B4-BE49-F238E27FC236}">
                <a16:creationId xmlns:a16="http://schemas.microsoft.com/office/drawing/2014/main" id="{375DADF2-8E4D-6C0E-0FA2-C5228AF29C1D}"/>
              </a:ext>
            </a:extLst>
          </p:cNvPr>
          <p:cNvSpPr>
            <a:spLocks noGrp="1"/>
          </p:cNvSpPr>
          <p:nvPr>
            <p:ph sz="quarter" idx="10"/>
          </p:nvPr>
        </p:nvSpPr>
        <p:spPr>
          <a:xfrm>
            <a:off x="481780" y="1125884"/>
            <a:ext cx="10619875" cy="5053263"/>
          </a:xfrm>
        </p:spPr>
        <p:txBody>
          <a:bodyPr>
            <a:noAutofit/>
          </a:bodyPr>
          <a:lstStyle/>
          <a:p>
            <a:pPr marL="0" indent="0">
              <a:buNone/>
            </a:pPr>
            <a:r>
              <a:rPr lang="en-US" sz="2200" dirty="0"/>
              <a:t>Section		         What It's About		Simple Meaning</a:t>
            </a:r>
          </a:p>
          <a:p>
            <a:pPr marL="0" indent="0">
              <a:buNone/>
            </a:pPr>
            <a:r>
              <a:rPr lang="en-US" sz="2200" dirty="0"/>
              <a:t>Section 66	    Hacking / Data Theft	</a:t>
            </a:r>
            <a:r>
              <a:rPr lang="en-US" sz="1900" dirty="0"/>
              <a:t>If you hack into someone's computer, 							email, or phone without permission and steal 						or damage data, you can get jail time (up to 3 						years) or a fine (up to ₹5 lakh) .</a:t>
            </a:r>
          </a:p>
          <a:p>
            <a:pPr marL="0" indent="0">
              <a:buNone/>
            </a:pPr>
            <a:r>
              <a:rPr lang="en-US" sz="2200" dirty="0"/>
              <a:t>Section 66A	    Offensive Messages		</a:t>
            </a:r>
            <a:r>
              <a:rPr lang="en-US" sz="1900" dirty="0"/>
              <a:t>This was meant to punish people for sending 						rude or annoying messages online. But in 2015, 						the Supreme Court cancelled this section 							because it was misused to arrest people for 						simple criticism or jokes.</a:t>
            </a:r>
          </a:p>
          <a:p>
            <a:pPr marL="0" indent="0">
              <a:buNone/>
            </a:pPr>
            <a:r>
              <a:rPr lang="en-US" sz="2200" dirty="0"/>
              <a:t>Section 66C	Punishment for Identity Theft</a:t>
            </a:r>
            <a:r>
              <a:rPr lang="en-US" sz="1900" dirty="0"/>
              <a:t>	If someone fraudulently uses your password, 						electronic signature, or any other unique 							identification feature (like Aadhaar), they are 						committing identity theft. The punishment can 						be up to 3 years in prison and a fine of up to ₹1 						lakh.</a:t>
            </a:r>
          </a:p>
        </p:txBody>
      </p:sp>
      <p:sp>
        <p:nvSpPr>
          <p:cNvPr id="5" name="Slide Number Placeholder 4">
            <a:extLst>
              <a:ext uri="{FF2B5EF4-FFF2-40B4-BE49-F238E27FC236}">
                <a16:creationId xmlns:a16="http://schemas.microsoft.com/office/drawing/2014/main" id="{FD4FFC83-A1E8-FCEA-2C47-38C5ADAEA1C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430403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0420-818C-0FBB-2999-E85DC1AA939A}"/>
              </a:ext>
            </a:extLst>
          </p:cNvPr>
          <p:cNvSpPr>
            <a:spLocks noGrp="1"/>
          </p:cNvSpPr>
          <p:nvPr>
            <p:ph type="title"/>
          </p:nvPr>
        </p:nvSpPr>
        <p:spPr>
          <a:xfrm>
            <a:off x="914399" y="365125"/>
            <a:ext cx="9336506" cy="549275"/>
          </a:xfrm>
        </p:spPr>
        <p:txBody>
          <a:bodyPr>
            <a:normAutofit fontScale="90000"/>
          </a:bodyPr>
          <a:lstStyle/>
          <a:p>
            <a:r>
              <a:rPr lang="en-US" b="1" dirty="0"/>
              <a:t>Breach of Confidentiality and Privacy</a:t>
            </a:r>
            <a:br>
              <a:rPr lang="en-US" b="1" dirty="0"/>
            </a:br>
            <a:endParaRPr lang="en-IN" dirty="0"/>
          </a:p>
        </p:txBody>
      </p:sp>
      <p:sp>
        <p:nvSpPr>
          <p:cNvPr id="3" name="Content Placeholder 2">
            <a:extLst>
              <a:ext uri="{FF2B5EF4-FFF2-40B4-BE49-F238E27FC236}">
                <a16:creationId xmlns:a16="http://schemas.microsoft.com/office/drawing/2014/main" id="{819C9664-F614-693B-A067-8B64BC3D92CE}"/>
              </a:ext>
            </a:extLst>
          </p:cNvPr>
          <p:cNvSpPr>
            <a:spLocks noGrp="1"/>
          </p:cNvSpPr>
          <p:nvPr>
            <p:ph sz="quarter" idx="10"/>
          </p:nvPr>
        </p:nvSpPr>
        <p:spPr>
          <a:xfrm>
            <a:off x="625640" y="792163"/>
            <a:ext cx="11325728" cy="5284172"/>
          </a:xfrm>
        </p:spPr>
        <p:txBody>
          <a:bodyPr>
            <a:noAutofit/>
          </a:bodyPr>
          <a:lstStyle/>
          <a:p>
            <a:pPr marL="0" indent="0">
              <a:spcAft>
                <a:spcPts val="50"/>
              </a:spcAft>
              <a:buNone/>
            </a:pPr>
            <a:r>
              <a:rPr lang="en-GB" sz="2400" dirty="0"/>
              <a:t>A breach occurs when personal or sensitive information is accessed, disclosed, or used without the consent of the individual concerned. This can happen intentionally or accidentally. </a:t>
            </a:r>
          </a:p>
          <a:p>
            <a:pPr marL="0" indent="0">
              <a:spcAft>
                <a:spcPts val="50"/>
              </a:spcAft>
              <a:buNone/>
            </a:pPr>
            <a:endParaRPr lang="en-US" sz="2200" dirty="0"/>
          </a:p>
          <a:p>
            <a:pPr>
              <a:spcAft>
                <a:spcPts val="50"/>
              </a:spcAft>
            </a:pPr>
            <a:r>
              <a:rPr lang="en-US" sz="2200" b="1" dirty="0"/>
              <a:t>Unauthorized disclosure</a:t>
            </a:r>
            <a:r>
              <a:rPr lang="en-US" sz="2200" dirty="0"/>
              <a:t> — revealing personal or confidential information </a:t>
            </a:r>
            <a:r>
              <a:rPr lang="en-US" sz="2000" dirty="0"/>
              <a:t>without consent</a:t>
            </a:r>
          </a:p>
          <a:p>
            <a:pPr>
              <a:spcAft>
                <a:spcPts val="50"/>
              </a:spcAft>
            </a:pPr>
            <a:r>
              <a:rPr lang="en-US" sz="2200" b="1" dirty="0"/>
              <a:t>Negligence</a:t>
            </a:r>
            <a:r>
              <a:rPr lang="en-US" sz="2200" dirty="0"/>
              <a:t> — failure to maintain reasonable security practices leading to data leak</a:t>
            </a:r>
          </a:p>
          <a:p>
            <a:pPr>
              <a:spcAft>
                <a:spcPts val="50"/>
              </a:spcAft>
            </a:pPr>
            <a:r>
              <a:rPr lang="en-US" sz="2200" b="1" dirty="0"/>
              <a:t>Misuse by authorized persons</a:t>
            </a:r>
            <a:r>
              <a:rPr lang="en-US" sz="2200" dirty="0"/>
              <a:t> — employees, contractors, or government officials misusing access</a:t>
            </a:r>
          </a:p>
          <a:p>
            <a:pPr marL="0" indent="0">
              <a:spcAft>
                <a:spcPts val="50"/>
              </a:spcAft>
              <a:buNone/>
            </a:pPr>
            <a:endParaRPr lang="en-US" sz="2200" dirty="0"/>
          </a:p>
          <a:p>
            <a:pPr marL="0" indent="0">
              <a:spcAft>
                <a:spcPts val="50"/>
              </a:spcAft>
              <a:buNone/>
            </a:pPr>
            <a:r>
              <a:rPr lang="en-US" sz="2200" b="1" dirty="0"/>
              <a:t>Examples of Breach</a:t>
            </a:r>
          </a:p>
          <a:p>
            <a:pPr>
              <a:spcAft>
                <a:spcPts val="50"/>
              </a:spcAft>
            </a:pPr>
            <a:r>
              <a:rPr lang="en-US" sz="2200" dirty="0"/>
              <a:t>A call center agent sharing customer bank details with third parties</a:t>
            </a:r>
          </a:p>
          <a:p>
            <a:pPr>
              <a:spcAft>
                <a:spcPts val="50"/>
              </a:spcAft>
            </a:pPr>
            <a:r>
              <a:rPr lang="en-US" sz="2200" dirty="0"/>
              <a:t>An IT professional leaking confidential emails or files</a:t>
            </a:r>
          </a:p>
          <a:p>
            <a:pPr>
              <a:spcAft>
                <a:spcPts val="50"/>
              </a:spcAft>
            </a:pPr>
            <a:r>
              <a:rPr lang="en-US" sz="2200" dirty="0"/>
              <a:t>A service provider disclosing login credentials without permission</a:t>
            </a:r>
          </a:p>
          <a:p>
            <a:pPr>
              <a:spcAft>
                <a:spcPts val="50"/>
              </a:spcAft>
            </a:pPr>
            <a:r>
              <a:rPr lang="en-US" sz="2200" dirty="0"/>
              <a:t>A government officer sharing personal documents obtained during official duties</a:t>
            </a:r>
          </a:p>
          <a:p>
            <a:pPr marL="0" indent="0">
              <a:spcAft>
                <a:spcPts val="50"/>
              </a:spcAft>
              <a:buNone/>
            </a:pPr>
            <a:endParaRPr lang="en-US" sz="2200" b="1" dirty="0"/>
          </a:p>
          <a:p>
            <a:pPr marL="0" indent="0">
              <a:spcAft>
                <a:spcPts val="50"/>
              </a:spcAft>
              <a:buNone/>
            </a:pPr>
            <a:r>
              <a:rPr lang="en-US" sz="2200" b="1" dirty="0"/>
              <a:t>Punishment under Section 72</a:t>
            </a:r>
          </a:p>
          <a:p>
            <a:pPr>
              <a:spcAft>
                <a:spcPts val="50"/>
              </a:spcAft>
            </a:pPr>
            <a:r>
              <a:rPr lang="en-US" sz="2200" b="1" dirty="0"/>
              <a:t>Imprisonment:</a:t>
            </a:r>
            <a:r>
              <a:rPr lang="en-US" sz="2200" dirty="0"/>
              <a:t> Up to </a:t>
            </a:r>
            <a:r>
              <a:rPr lang="en-US" sz="2200" b="1" dirty="0"/>
              <a:t>2 years</a:t>
            </a:r>
            <a:endParaRPr lang="en-US" sz="2200" dirty="0"/>
          </a:p>
          <a:p>
            <a:pPr>
              <a:spcAft>
                <a:spcPts val="50"/>
              </a:spcAft>
            </a:pPr>
            <a:r>
              <a:rPr lang="en-US" sz="2200" b="1" dirty="0"/>
              <a:t>Fine:</a:t>
            </a:r>
            <a:r>
              <a:rPr lang="en-US" sz="2200" dirty="0"/>
              <a:t> Up to </a:t>
            </a:r>
            <a:r>
              <a:rPr lang="en-US" sz="2200" b="1" dirty="0"/>
              <a:t>₹1 lakh</a:t>
            </a:r>
            <a:endParaRPr lang="en-US" sz="2200" dirty="0"/>
          </a:p>
          <a:p>
            <a:pPr>
              <a:spcAft>
                <a:spcPts val="50"/>
              </a:spcAft>
            </a:pPr>
            <a:r>
              <a:rPr lang="en-US" sz="2200" b="1" dirty="0"/>
              <a:t>Or both</a:t>
            </a:r>
            <a:br>
              <a:rPr lang="en-US" sz="2200" dirty="0"/>
            </a:br>
            <a:endParaRPr lang="en-IN" sz="2200" dirty="0"/>
          </a:p>
        </p:txBody>
      </p:sp>
      <p:sp>
        <p:nvSpPr>
          <p:cNvPr id="4" name="Slide Number Placeholder 3">
            <a:extLst>
              <a:ext uri="{FF2B5EF4-FFF2-40B4-BE49-F238E27FC236}">
                <a16:creationId xmlns:a16="http://schemas.microsoft.com/office/drawing/2014/main" id="{C5DE83F4-225D-5011-A7BC-45D1F6D77DCD}"/>
              </a:ext>
            </a:extLst>
          </p:cNvPr>
          <p:cNvSpPr>
            <a:spLocks noGrp="1"/>
          </p:cNvSpPr>
          <p:nvPr>
            <p:ph type="sldNum" sz="quarter" idx="4"/>
          </p:nvPr>
        </p:nvSpPr>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345081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D2D6-1C1C-01A4-5A72-4E4AE5377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B2181-DC9B-7258-4BA7-C67A80F1B37A}"/>
              </a:ext>
            </a:extLst>
          </p:cNvPr>
          <p:cNvSpPr>
            <a:spLocks noGrp="1"/>
          </p:cNvSpPr>
          <p:nvPr>
            <p:ph type="title"/>
          </p:nvPr>
        </p:nvSpPr>
        <p:spPr>
          <a:xfrm>
            <a:off x="914399" y="365125"/>
            <a:ext cx="10363201" cy="723445"/>
          </a:xfrm>
        </p:spPr>
        <p:txBody>
          <a:bodyPr/>
          <a:lstStyle/>
          <a:p>
            <a:r>
              <a:rPr lang="en-US" dirty="0"/>
              <a:t>How the New Laws Work With the IT Act</a:t>
            </a:r>
          </a:p>
        </p:txBody>
      </p:sp>
      <p:sp>
        <p:nvSpPr>
          <p:cNvPr id="3" name="Content Placeholder 2">
            <a:extLst>
              <a:ext uri="{FF2B5EF4-FFF2-40B4-BE49-F238E27FC236}">
                <a16:creationId xmlns:a16="http://schemas.microsoft.com/office/drawing/2014/main" id="{C2C7EB93-6A0E-9C4F-DD88-6AB6A96883D9}"/>
              </a:ext>
            </a:extLst>
          </p:cNvPr>
          <p:cNvSpPr>
            <a:spLocks noGrp="1"/>
          </p:cNvSpPr>
          <p:nvPr>
            <p:ph sz="quarter" idx="10"/>
          </p:nvPr>
        </p:nvSpPr>
        <p:spPr>
          <a:xfrm>
            <a:off x="914399" y="1341098"/>
            <a:ext cx="10619875" cy="5053263"/>
          </a:xfrm>
        </p:spPr>
        <p:txBody>
          <a:bodyPr>
            <a:noAutofit/>
          </a:bodyPr>
          <a:lstStyle/>
          <a:p>
            <a:r>
              <a:rPr lang="en-US" sz="2200" dirty="0"/>
              <a:t>The IT Act and the new criminal laws (BNS, BNSS, BSA) now operate together :</a:t>
            </a:r>
          </a:p>
          <a:p>
            <a:r>
              <a:rPr lang="en-US" sz="2200" b="1" dirty="0"/>
              <a:t>Dual Prosecution:</a:t>
            </a:r>
            <a:r>
              <a:rPr lang="en-US" sz="2200" dirty="0"/>
              <a:t> A single cybercrime is often prosecuted under </a:t>
            </a:r>
            <a:r>
              <a:rPr lang="en-US" sz="2200" b="1" dirty="0"/>
              <a:t>both</a:t>
            </a:r>
            <a:r>
              <a:rPr lang="en-US" sz="2200" dirty="0"/>
              <a:t> the IT Act and the BNS. For example:</a:t>
            </a:r>
          </a:p>
          <a:p>
            <a:pPr lvl="1"/>
            <a:r>
              <a:rPr lang="en-US" sz="2200" b="1" dirty="0"/>
              <a:t>Hacking:</a:t>
            </a:r>
            <a:r>
              <a:rPr lang="en-US" sz="2200" dirty="0"/>
              <a:t> Penalized under </a:t>
            </a:r>
            <a:r>
              <a:rPr lang="en-US" sz="2200" b="1" dirty="0"/>
              <a:t>Section 66 of the IT Act</a:t>
            </a:r>
            <a:r>
              <a:rPr lang="en-US" sz="2200" dirty="0"/>
              <a:t> (for the unauthorized access) and also under </a:t>
            </a:r>
            <a:r>
              <a:rPr lang="en-US" sz="2200" b="1" dirty="0"/>
              <a:t>Section 324 of the BNS</a:t>
            </a:r>
            <a:r>
              <a:rPr lang="en-US" sz="2200" dirty="0"/>
              <a:t> (for committing "mischief" by damaging digital property) .</a:t>
            </a:r>
          </a:p>
          <a:p>
            <a:pPr lvl="1"/>
            <a:r>
              <a:rPr lang="en-US" sz="2200" b="1" dirty="0"/>
              <a:t>Identity Theft:</a:t>
            </a:r>
            <a:r>
              <a:rPr lang="en-US" sz="2200" dirty="0"/>
              <a:t> Punishable under </a:t>
            </a:r>
            <a:r>
              <a:rPr lang="en-US" sz="2200" b="1" dirty="0"/>
              <a:t>Section 66C of the IT Act</a:t>
            </a:r>
            <a:r>
              <a:rPr lang="en-US" sz="2200" dirty="0"/>
              <a:t> and </a:t>
            </a:r>
            <a:r>
              <a:rPr lang="en-US" sz="2200" b="1" dirty="0"/>
              <a:t>Section 319 of the BNS</a:t>
            </a:r>
            <a:r>
              <a:rPr lang="en-US" sz="2200" dirty="0"/>
              <a:t> (cheating by personation) .</a:t>
            </a:r>
          </a:p>
          <a:p>
            <a:r>
              <a:rPr lang="en-US" sz="2200" b="1" dirty="0"/>
              <a:t>Stronger Digital Evidence:</a:t>
            </a:r>
            <a:r>
              <a:rPr lang="en-US" sz="2200" dirty="0"/>
              <a:t> The new </a:t>
            </a:r>
            <a:r>
              <a:rPr lang="en-US" sz="2200" b="1" dirty="0"/>
              <a:t>Bharatiya </a:t>
            </a:r>
            <a:r>
              <a:rPr lang="en-US" sz="2200" b="1" dirty="0" err="1"/>
              <a:t>Sakshya</a:t>
            </a:r>
            <a:r>
              <a:rPr lang="en-US" sz="2200" b="1" dirty="0"/>
              <a:t> </a:t>
            </a:r>
            <a:r>
              <a:rPr lang="en-US" sz="2200" b="1" dirty="0" err="1"/>
              <a:t>Adhiniyam</a:t>
            </a:r>
            <a:r>
              <a:rPr lang="en-US" sz="2200" b="1" dirty="0"/>
              <a:t> (BSA), 2023</a:t>
            </a:r>
            <a:r>
              <a:rPr lang="en-US" sz="2200" dirty="0"/>
              <a:t> provides a much stricter and more detailed framework for admitting electronic records (emails, WhatsApp chats, server logs) as evidence in court. It emphasizes "hash values" (digital fingerprints) to prove that the evidence has not been tampered with</a:t>
            </a:r>
          </a:p>
        </p:txBody>
      </p:sp>
      <p:sp>
        <p:nvSpPr>
          <p:cNvPr id="5" name="Slide Number Placeholder 4">
            <a:extLst>
              <a:ext uri="{FF2B5EF4-FFF2-40B4-BE49-F238E27FC236}">
                <a16:creationId xmlns:a16="http://schemas.microsoft.com/office/drawing/2014/main" id="{03AFF7C0-8995-F08C-FE9F-FA6C85737A4F}"/>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3036838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2CA47-E469-2651-4643-B0B7CD628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E0AD3-03EF-FE70-F3EF-2CDA240643AD}"/>
              </a:ext>
            </a:extLst>
          </p:cNvPr>
          <p:cNvSpPr>
            <a:spLocks noGrp="1"/>
          </p:cNvSpPr>
          <p:nvPr>
            <p:ph type="title"/>
          </p:nvPr>
        </p:nvSpPr>
        <p:spPr>
          <a:xfrm>
            <a:off x="914400" y="0"/>
            <a:ext cx="9336506" cy="549275"/>
          </a:xfrm>
        </p:spPr>
        <p:txBody>
          <a:bodyPr>
            <a:normAutofit fontScale="90000"/>
          </a:bodyPr>
          <a:lstStyle/>
          <a:p>
            <a:r>
              <a:rPr lang="en-US" b="1" dirty="0"/>
              <a:t>Resolve: Addressing Breaches under the IT Act</a:t>
            </a:r>
          </a:p>
        </p:txBody>
      </p:sp>
      <p:sp>
        <p:nvSpPr>
          <p:cNvPr id="3" name="Content Placeholder 2">
            <a:extLst>
              <a:ext uri="{FF2B5EF4-FFF2-40B4-BE49-F238E27FC236}">
                <a16:creationId xmlns:a16="http://schemas.microsoft.com/office/drawing/2014/main" id="{B9536269-B8E9-F2D0-BDAA-E5CE36CEE3DA}"/>
              </a:ext>
            </a:extLst>
          </p:cNvPr>
          <p:cNvSpPr>
            <a:spLocks noGrp="1"/>
          </p:cNvSpPr>
          <p:nvPr>
            <p:ph sz="quarter" idx="10"/>
          </p:nvPr>
        </p:nvSpPr>
        <p:spPr>
          <a:xfrm>
            <a:off x="433136" y="580436"/>
            <a:ext cx="11325728" cy="5284172"/>
          </a:xfrm>
        </p:spPr>
        <p:txBody>
          <a:bodyPr>
            <a:noAutofit/>
          </a:bodyPr>
          <a:lstStyle/>
          <a:p>
            <a:pPr marL="0" indent="0">
              <a:spcAft>
                <a:spcPts val="50"/>
              </a:spcAft>
              <a:buNone/>
            </a:pPr>
            <a:r>
              <a:rPr lang="en-US" sz="2200" dirty="0"/>
              <a:t>1. </a:t>
            </a:r>
            <a:r>
              <a:rPr lang="en-US" sz="2200" b="1" dirty="0"/>
              <a:t>Adjudication &amp; Appeals (Civil)</a:t>
            </a:r>
          </a:p>
          <a:p>
            <a:pPr>
              <a:spcAft>
                <a:spcPts val="50"/>
              </a:spcAft>
            </a:pPr>
            <a:r>
              <a:rPr lang="en-US" sz="1900" b="1" dirty="0"/>
              <a:t>Adjudicating Officer: </a:t>
            </a:r>
            <a:r>
              <a:rPr lang="en-US" sz="1900" dirty="0"/>
              <a:t>Complaints filed with the State IT Secretary for compensation up to ₹5 crore. </a:t>
            </a:r>
          </a:p>
          <a:p>
            <a:pPr>
              <a:spcAft>
                <a:spcPts val="50"/>
              </a:spcAft>
            </a:pPr>
            <a:r>
              <a:rPr lang="en-US" sz="1900" dirty="0"/>
              <a:t>Appellate Path: Appeal to TDSAT [TELECOM DISPUTES SETTLEMENT AND APPELLATE TRIBUNAL ] within 45 days; further appeal to the High Court within 60 days.</a:t>
            </a:r>
          </a:p>
          <a:p>
            <a:pPr marL="0" indent="0">
              <a:spcAft>
                <a:spcPts val="50"/>
              </a:spcAft>
              <a:buNone/>
            </a:pPr>
            <a:endParaRPr lang="en-US" sz="2200" b="1" dirty="0"/>
          </a:p>
          <a:p>
            <a:pPr marL="0" indent="0">
              <a:spcAft>
                <a:spcPts val="50"/>
              </a:spcAft>
              <a:buNone/>
            </a:pPr>
            <a:r>
              <a:rPr lang="en-US" sz="2200" b="1" dirty="0"/>
              <a:t>2. Intermediary Grievance Mechanism</a:t>
            </a:r>
          </a:p>
          <a:p>
            <a:pPr>
              <a:spcAft>
                <a:spcPts val="50"/>
              </a:spcAft>
            </a:pPr>
            <a:r>
              <a:rPr lang="en-US" sz="1900" dirty="0"/>
              <a:t>Step 1: File with the platform's Grievance Officer (Acknowledgment: 24 </a:t>
            </a:r>
            <a:r>
              <a:rPr lang="en-US" sz="1900" dirty="0" err="1"/>
              <a:t>hrs</a:t>
            </a:r>
            <a:r>
              <a:rPr lang="en-US" sz="1900" dirty="0"/>
              <a:t> | Resolution: 15 days).</a:t>
            </a:r>
          </a:p>
          <a:p>
            <a:pPr>
              <a:spcAft>
                <a:spcPts val="50"/>
              </a:spcAft>
            </a:pPr>
            <a:r>
              <a:rPr lang="en-US" sz="1900" dirty="0"/>
              <a:t>Step 2: If unsatisfied, appeal to the Grievance Appellate Committee (GAC) for a digital resolution within 30 days</a:t>
            </a:r>
            <a:r>
              <a:rPr lang="en-US" sz="2200" dirty="0"/>
              <a:t>.</a:t>
            </a:r>
            <a:endParaRPr lang="en-US" sz="2200" b="1" dirty="0"/>
          </a:p>
          <a:p>
            <a:pPr marL="0" indent="0">
              <a:spcAft>
                <a:spcPts val="50"/>
              </a:spcAft>
              <a:buNone/>
            </a:pPr>
            <a:endParaRPr lang="en-US" sz="2200" b="1" dirty="0"/>
          </a:p>
          <a:p>
            <a:pPr marL="0" indent="0">
              <a:spcAft>
                <a:spcPts val="50"/>
              </a:spcAft>
              <a:buNone/>
            </a:pPr>
            <a:r>
              <a:rPr lang="en-US" sz="2200" b="1" dirty="0"/>
              <a:t>3. Criminal &amp; Civil Remedies </a:t>
            </a:r>
          </a:p>
          <a:p>
            <a:pPr>
              <a:spcAft>
                <a:spcPts val="50"/>
              </a:spcAft>
            </a:pPr>
            <a:r>
              <a:rPr lang="en-US" sz="1900" dirty="0"/>
              <a:t>Criminal Action: File an FIR at a Cyber Cell invoking Section 72 (Breach of Confidentiality) or Section 66 (Hacking).</a:t>
            </a:r>
          </a:p>
          <a:p>
            <a:pPr>
              <a:spcAft>
                <a:spcPts val="50"/>
              </a:spcAft>
            </a:pPr>
            <a:r>
              <a:rPr lang="en-US" sz="1900" dirty="0"/>
              <a:t>Penalties: Imprisonment ranging from 2 to 3 years plus fines.</a:t>
            </a:r>
          </a:p>
          <a:p>
            <a:pPr>
              <a:spcAft>
                <a:spcPts val="50"/>
              </a:spcAft>
            </a:pPr>
            <a:r>
              <a:rPr lang="en-US" sz="1900" dirty="0"/>
              <a:t>Civil Action (Sec 43A): Claim compensation from corporate bodies for negligence in protecting sensitive data (SPDI).</a:t>
            </a:r>
          </a:p>
          <a:p>
            <a:pPr>
              <a:spcAft>
                <a:spcPts val="50"/>
              </a:spcAft>
            </a:pPr>
            <a:r>
              <a:rPr lang="en-US" sz="1900" dirty="0"/>
              <a:t>Banking Frauds: File with the RBI Ombudsman for compensation up to ₹20 lakh.</a:t>
            </a:r>
          </a:p>
          <a:p>
            <a:pPr marL="0" indent="0">
              <a:spcAft>
                <a:spcPts val="50"/>
              </a:spcAft>
              <a:buNone/>
            </a:pPr>
            <a:endParaRPr lang="en-US" sz="2200" b="1" dirty="0"/>
          </a:p>
          <a:p>
            <a:pPr marL="0" indent="0">
              <a:spcAft>
                <a:spcPts val="50"/>
              </a:spcAft>
              <a:buNone/>
            </a:pPr>
            <a:r>
              <a:rPr lang="en-US" sz="2200" b="1" dirty="0"/>
              <a:t>4. Preventive Best Practices</a:t>
            </a:r>
          </a:p>
          <a:p>
            <a:pPr>
              <a:spcAft>
                <a:spcPts val="50"/>
              </a:spcAft>
            </a:pPr>
            <a:r>
              <a:rPr lang="en-US" sz="1900" dirty="0"/>
              <a:t>Corporate: Implement SPDI Rules, 2011 (Encryption, Access Controls, Audits).</a:t>
            </a:r>
          </a:p>
          <a:p>
            <a:pPr>
              <a:spcAft>
                <a:spcPts val="50"/>
              </a:spcAft>
            </a:pPr>
            <a:r>
              <a:rPr lang="en-US" sz="1900" dirty="0"/>
              <a:t>Legal Protection: Use written Non-Disclosure Agreements (NDAs) and send formal Legal Notices to seek pre-litigation settlements</a:t>
            </a:r>
            <a:endParaRPr lang="en-IN" sz="1900" dirty="0"/>
          </a:p>
        </p:txBody>
      </p:sp>
      <p:sp>
        <p:nvSpPr>
          <p:cNvPr id="4" name="Slide Number Placeholder 3">
            <a:extLst>
              <a:ext uri="{FF2B5EF4-FFF2-40B4-BE49-F238E27FC236}">
                <a16:creationId xmlns:a16="http://schemas.microsoft.com/office/drawing/2014/main" id="{850B2360-8923-A123-C3AC-7EF91AF724F0}"/>
              </a:ext>
            </a:extLst>
          </p:cNvPr>
          <p:cNvSpPr>
            <a:spLocks noGrp="1"/>
          </p:cNvSpPr>
          <p:nvPr>
            <p:ph type="sldNum" sz="quarter" idx="4"/>
          </p:nvPr>
        </p:nvSpPr>
        <p:spPr/>
        <p:txBody>
          <a:body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4019588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6CC4-2B3B-7523-3FAB-34B5B48E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02294-804B-4817-20F7-81EFBE6D5E4E}"/>
              </a:ext>
            </a:extLst>
          </p:cNvPr>
          <p:cNvSpPr>
            <a:spLocks noGrp="1"/>
          </p:cNvSpPr>
          <p:nvPr>
            <p:ph type="title"/>
          </p:nvPr>
        </p:nvSpPr>
        <p:spPr>
          <a:xfrm>
            <a:off x="1012723" y="337108"/>
            <a:ext cx="4719483" cy="549275"/>
          </a:xfrm>
        </p:spPr>
        <p:txBody>
          <a:bodyPr>
            <a:normAutofit fontScale="90000"/>
          </a:bodyPr>
          <a:lstStyle/>
          <a:p>
            <a:r>
              <a:rPr lang="en-GB" dirty="0"/>
              <a:t>Preventive Measures</a:t>
            </a:r>
            <a:br>
              <a:rPr lang="en-GB" dirty="0"/>
            </a:br>
            <a:endParaRPr lang="en-US" b="1" dirty="0"/>
          </a:p>
        </p:txBody>
      </p:sp>
      <p:sp>
        <p:nvSpPr>
          <p:cNvPr id="3" name="Content Placeholder 2">
            <a:extLst>
              <a:ext uri="{FF2B5EF4-FFF2-40B4-BE49-F238E27FC236}">
                <a16:creationId xmlns:a16="http://schemas.microsoft.com/office/drawing/2014/main" id="{6643E5C2-F51A-4863-B9B0-90B4DC9CC5CE}"/>
              </a:ext>
            </a:extLst>
          </p:cNvPr>
          <p:cNvSpPr>
            <a:spLocks noGrp="1"/>
          </p:cNvSpPr>
          <p:nvPr>
            <p:ph sz="quarter" idx="10"/>
          </p:nvPr>
        </p:nvSpPr>
        <p:spPr>
          <a:xfrm>
            <a:off x="433136" y="786914"/>
            <a:ext cx="11325728" cy="5284172"/>
          </a:xfrm>
        </p:spPr>
        <p:txBody>
          <a:bodyPr>
            <a:noAutofit/>
          </a:bodyPr>
          <a:lstStyle/>
          <a:p>
            <a:pPr marL="0" indent="0">
              <a:buNone/>
            </a:pPr>
            <a:r>
              <a:rPr lang="en-GB" sz="2400" dirty="0"/>
              <a:t>To avoid breaches, both individuals and organizations must take precautions:</a:t>
            </a:r>
          </a:p>
          <a:p>
            <a:pPr marL="0" indent="0">
              <a:buNone/>
            </a:pPr>
            <a:r>
              <a:rPr lang="en-GB" sz="2400" b="1" dirty="0"/>
              <a:t>For Individuals:</a:t>
            </a:r>
            <a:endParaRPr lang="en-GB" sz="2400" dirty="0"/>
          </a:p>
          <a:p>
            <a:r>
              <a:rPr lang="en-GB" sz="2400" dirty="0"/>
              <a:t>Use strong and unique passwords </a:t>
            </a:r>
          </a:p>
          <a:p>
            <a:r>
              <a:rPr lang="en-GB" sz="2400" dirty="0"/>
              <a:t>Enable two-factor authentication </a:t>
            </a:r>
          </a:p>
          <a:p>
            <a:r>
              <a:rPr lang="en-GB" sz="2400" dirty="0"/>
              <a:t>Avoid sharing sensitive information online </a:t>
            </a:r>
          </a:p>
          <a:p>
            <a:endParaRPr lang="en-GB" sz="2400" b="1" dirty="0"/>
          </a:p>
          <a:p>
            <a:pPr marL="0" indent="0">
              <a:buNone/>
            </a:pPr>
            <a:r>
              <a:rPr lang="en-GB" sz="2400" b="1" dirty="0"/>
              <a:t>For Organizations:</a:t>
            </a:r>
            <a:endParaRPr lang="en-GB" sz="2400" dirty="0"/>
          </a:p>
          <a:p>
            <a:r>
              <a:rPr lang="en-GB" sz="2400" dirty="0"/>
              <a:t>Implement data encryption </a:t>
            </a:r>
          </a:p>
          <a:p>
            <a:r>
              <a:rPr lang="en-GB" sz="2400" dirty="0"/>
              <a:t>Restrict access to sensitive information </a:t>
            </a:r>
          </a:p>
          <a:p>
            <a:r>
              <a:rPr lang="en-GB" sz="2400" dirty="0"/>
              <a:t>Conduct regular security audits </a:t>
            </a:r>
          </a:p>
          <a:p>
            <a:r>
              <a:rPr lang="en-GB" sz="2400" dirty="0"/>
              <a:t>Train employees on data protection</a:t>
            </a:r>
          </a:p>
        </p:txBody>
      </p:sp>
      <p:sp>
        <p:nvSpPr>
          <p:cNvPr id="4" name="Slide Number Placeholder 3">
            <a:extLst>
              <a:ext uri="{FF2B5EF4-FFF2-40B4-BE49-F238E27FC236}">
                <a16:creationId xmlns:a16="http://schemas.microsoft.com/office/drawing/2014/main" id="{3DB320EB-CEA6-4381-C144-08D6E1DFD28B}"/>
              </a:ext>
            </a:extLst>
          </p:cNvPr>
          <p:cNvSpPr>
            <a:spLocks noGrp="1"/>
          </p:cNvSpPr>
          <p:nvPr>
            <p:ph type="sldNum" sz="quarter" idx="4"/>
          </p:nvPr>
        </p:nvSpPr>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87002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4151" r="18577"/>
          <a:stretch/>
        </p:blipFill>
        <p:spPr>
          <a:xfrm flipH="1">
            <a:off x="0" y="0"/>
            <a:ext cx="5181600"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6091515" y="374090"/>
            <a:ext cx="5057104" cy="3624984"/>
          </a:xfrm>
        </p:spPr>
        <p:txBody>
          <a:bodyPr/>
          <a:lstStyle/>
          <a:p>
            <a:r>
              <a:rPr lang="en-US" dirty="0"/>
              <a:t>Thank you</a:t>
            </a:r>
          </a:p>
        </p:txBody>
      </p:sp>
    </p:spTree>
    <p:extLst>
      <p:ext uri="{BB962C8B-B14F-4D97-AF65-F5344CB8AC3E}">
        <p14:creationId xmlns:p14="http://schemas.microsoft.com/office/powerpoint/2010/main" val="76993264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2.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62</TotalTime>
  <Words>1311</Words>
  <Application>Microsoft Office PowerPoint</Application>
  <PresentationFormat>Widescreen</PresentationFormat>
  <Paragraphs>110</Paragraphs>
  <Slides>10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Bahnschrift Condensed</vt:lpstr>
      <vt:lpstr>Calibri</vt:lpstr>
      <vt:lpstr>Google Sans Text</vt:lpstr>
      <vt:lpstr>Tenorite</vt:lpstr>
      <vt:lpstr>Custom</vt:lpstr>
      <vt:lpstr>Breach of Confidentiality  and Privacy under the IT Act</vt:lpstr>
      <vt:lpstr>INDEX </vt:lpstr>
      <vt:lpstr>   The Information Technology Act, 2000  </vt:lpstr>
      <vt:lpstr>IMPORTANT SECTIONS - CONFIDENTIALITY</vt:lpstr>
      <vt:lpstr>IMPORTANT SECTIONS - PRIVACY</vt:lpstr>
      <vt:lpstr>Breach of Confidentiality and Privacy </vt:lpstr>
      <vt:lpstr>How the New Laws Work With the IT Act</vt:lpstr>
      <vt:lpstr>Resolve: Addressing Breaches under the IT Act</vt:lpstr>
      <vt:lpstr>Preventive Measures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Nihal</dc:creator>
  <cp:lastModifiedBy>Mohamed Nihal</cp:lastModifiedBy>
  <cp:revision>1</cp:revision>
  <dcterms:created xsi:type="dcterms:W3CDTF">2026-03-24T15:47:28Z</dcterms:created>
  <dcterms:modified xsi:type="dcterms:W3CDTF">2026-03-24T16:49:30Z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