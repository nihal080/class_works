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handoutMasterIdLst>
    <p:handoutMasterId r:id="rId16"/>
  </p:handoutMasterIdLst>
  <p:sldIdLst>
    <p:sldId id="257" r:id="rId5"/>
    <p:sldId id="282" r:id="rId6"/>
    <p:sldId id="283" r:id="rId7"/>
    <p:sldId id="287" r:id="rId8"/>
    <p:sldId id="289" r:id="rId9"/>
    <p:sldId id="290" r:id="rId10"/>
    <p:sldId id="284" r:id="rId11"/>
    <p:sldId id="286" r:id="rId12"/>
    <p:sldId id="291" r:id="rId13"/>
    <p:sldId id="277" r:id="rId1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879" autoAdjust="0"/>
  </p:normalViewPr>
  <p:slideViewPr>
    <p:cSldViewPr showGuides="1">
      <p:cViewPr varScale="1">
        <p:scale>
          <a:sx n="86" d="100"/>
          <a:sy n="86" d="100"/>
        </p:scale>
        <p:origin x="498" y="156"/>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4/24/2026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4/24/2026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r>
              <a:rPr lang="en-US"/>
              <a:t>Click icon to add table</a:t>
            </a:r>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r>
              <a:rPr lang="en-US"/>
              <a:t>Click icon to add table</a:t>
            </a:r>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65691" y="-171400"/>
            <a:ext cx="10287000" cy="3886200"/>
          </a:xfrm>
        </p:spPr>
        <p:txBody>
          <a:bodyPr anchor="b">
            <a:normAutofit/>
          </a:bodyPr>
          <a:lstStyle/>
          <a:p>
            <a:r>
              <a:rPr lang="en-GB" dirty="0">
                <a:solidFill>
                  <a:srgbClr val="C00000"/>
                </a:solidFill>
                <a:latin typeface="Bahnschrift Condensed" panose="020B0502040204020203" pitchFamily="34" charset="0"/>
              </a:rPr>
              <a:t>Breach of Confidentiality </a:t>
            </a:r>
            <a:br>
              <a:rPr lang="en-GB" dirty="0">
                <a:solidFill>
                  <a:srgbClr val="C00000"/>
                </a:solidFill>
                <a:latin typeface="Bahnschrift Condensed" panose="020B0502040204020203" pitchFamily="34" charset="0"/>
              </a:rPr>
            </a:br>
            <a:r>
              <a:rPr lang="en-GB" dirty="0">
                <a:solidFill>
                  <a:srgbClr val="C00000"/>
                </a:solidFill>
                <a:latin typeface="Bahnschrift Condensed" panose="020B0502040204020203" pitchFamily="34" charset="0"/>
              </a:rPr>
              <a:t>and Privacy under </a:t>
            </a:r>
            <a:br>
              <a:rPr lang="en-GB" dirty="0">
                <a:solidFill>
                  <a:srgbClr val="C00000"/>
                </a:solidFill>
                <a:latin typeface="Bahnschrift Condensed" panose="020B0502040204020203" pitchFamily="34" charset="0"/>
              </a:rPr>
            </a:br>
            <a:r>
              <a:rPr lang="en-GB" dirty="0">
                <a:solidFill>
                  <a:srgbClr val="C00000"/>
                </a:solidFill>
                <a:latin typeface="Bahnschrift Condensed" panose="020B0502040204020203" pitchFamily="34" charset="0"/>
              </a:rPr>
              <a:t>the IT Act</a:t>
            </a:r>
            <a:endParaRPr lang="en-US" dirty="0">
              <a:solidFill>
                <a:srgbClr val="C00000"/>
              </a:solidFill>
            </a:endParaRPr>
          </a:p>
        </p:txBody>
      </p:sp>
      <p:sp>
        <p:nvSpPr>
          <p:cNvPr id="3" name="Content Placeholder 2"/>
          <p:cNvSpPr>
            <a:spLocks noGrp="1"/>
          </p:cNvSpPr>
          <p:nvPr>
            <p:ph type="body" sz="quarter" idx="10"/>
          </p:nvPr>
        </p:nvSpPr>
        <p:spPr>
          <a:xfrm>
            <a:off x="837828" y="4365104"/>
            <a:ext cx="4042048" cy="1440160"/>
          </a:xfrm>
        </p:spPr>
        <p:txBody>
          <a:bodyPr>
            <a:normAutofit/>
          </a:bodyPr>
          <a:lstStyle/>
          <a:p>
            <a:r>
              <a:rPr lang="en-US" b="1" dirty="0"/>
              <a:t>MOHAMED NIHAL – 37</a:t>
            </a:r>
          </a:p>
          <a:p>
            <a:r>
              <a:rPr lang="en-US" b="1" dirty="0"/>
              <a:t>S2-MCA</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5FFD-5207-3292-CCA1-DF6A58EFC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C42CB-B963-0FD5-6B34-BEEDA7F56BD2}"/>
              </a:ext>
            </a:extLst>
          </p:cNvPr>
          <p:cNvSpPr>
            <a:spLocks noGrp="1"/>
          </p:cNvSpPr>
          <p:nvPr>
            <p:ph type="title"/>
          </p:nvPr>
        </p:nvSpPr>
        <p:spPr>
          <a:xfrm>
            <a:off x="157048" y="400844"/>
            <a:ext cx="10749544" cy="1447800"/>
          </a:xfrm>
        </p:spPr>
        <p:txBody>
          <a:bodyPr anchor="t">
            <a:normAutofit/>
          </a:bodyPr>
          <a:lstStyle/>
          <a:p>
            <a:r>
              <a:rPr lang="en-US" dirty="0"/>
              <a:t>Introduction</a:t>
            </a:r>
          </a:p>
        </p:txBody>
      </p:sp>
      <p:sp>
        <p:nvSpPr>
          <p:cNvPr id="3" name="Content Placeholder 2">
            <a:extLst>
              <a:ext uri="{FF2B5EF4-FFF2-40B4-BE49-F238E27FC236}">
                <a16:creationId xmlns:a16="http://schemas.microsoft.com/office/drawing/2014/main" id="{DC41AFF9-19BA-B303-7425-352D7CF3184A}"/>
              </a:ext>
            </a:extLst>
          </p:cNvPr>
          <p:cNvSpPr>
            <a:spLocks noGrp="1"/>
          </p:cNvSpPr>
          <p:nvPr>
            <p:ph idx="1"/>
          </p:nvPr>
        </p:nvSpPr>
        <p:spPr>
          <a:xfrm>
            <a:off x="117748" y="1124744"/>
            <a:ext cx="12307453" cy="6394276"/>
          </a:xfrm>
        </p:spPr>
        <p:txBody>
          <a:bodyPr vert="horz" lIns="91440" tIns="45720" rIns="91440" bIns="45720" rtlCol="0" anchor="t">
            <a:normAutofit/>
          </a:bodyPr>
          <a:lstStyle/>
          <a:p>
            <a:r>
              <a:rPr lang="en-GB" sz="2200" b="1" dirty="0"/>
              <a:t>Confidentiality </a:t>
            </a:r>
            <a:r>
              <a:rPr lang="en-GB" sz="2200" dirty="0"/>
              <a:t>is keeping information secret. It ensures that only authorized people can access sensitive data. </a:t>
            </a:r>
          </a:p>
          <a:p>
            <a:r>
              <a:rPr lang="en-GB" sz="2200" b="1" dirty="0"/>
              <a:t>Privacy </a:t>
            </a:r>
            <a:r>
              <a:rPr lang="en-GB" sz="2200" dirty="0"/>
              <a:t>is the right to control personal information. It allows individuals to decide how their data is collected, used, and shared. </a:t>
            </a:r>
          </a:p>
          <a:p>
            <a:r>
              <a:rPr lang="en-GB" sz="2200" dirty="0"/>
              <a:t>A </a:t>
            </a:r>
            <a:r>
              <a:rPr lang="en-GB" sz="2200" b="1" dirty="0"/>
              <a:t>data breach </a:t>
            </a:r>
            <a:r>
              <a:rPr lang="en-GB" sz="2200" dirty="0"/>
              <a:t>happens when private information is accessed, stolen, or shared without permission. This can lead to identity theft, financial loss, and reputational damage. </a:t>
            </a:r>
          </a:p>
          <a:p>
            <a:r>
              <a:rPr lang="en-GB" sz="2200" dirty="0"/>
              <a:t>India’s laws, like the </a:t>
            </a:r>
            <a:r>
              <a:rPr lang="en-GB" sz="2200" b="1" dirty="0"/>
              <a:t>Information Technology (IT) Act</a:t>
            </a:r>
            <a:r>
              <a:rPr lang="en-GB" sz="2200" dirty="0"/>
              <a:t>, help protect data and set rules for organizations handling personal information.. Organizations must follow good security practices such as encryption, secure passwords, and regular system updates to protect data. Individuals should also stay aware by using strong passwords, avoiding suspicious links, and protecting their personal information online. </a:t>
            </a:r>
          </a:p>
          <a:p>
            <a:r>
              <a:rPr lang="en-GB" sz="2200" dirty="0"/>
              <a:t>Maintaining confidentiality and privacy is essential in today’s digital world to build trust and ensure safety.</a:t>
            </a:r>
            <a:endParaRPr lang="en-US" sz="2200" dirty="0"/>
          </a:p>
        </p:txBody>
      </p:sp>
    </p:spTree>
    <p:extLst>
      <p:ext uri="{BB962C8B-B14F-4D97-AF65-F5344CB8AC3E}">
        <p14:creationId xmlns:p14="http://schemas.microsoft.com/office/powerpoint/2010/main" val="2538065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CADDF-A2F1-DD50-E159-D678E6218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865D9-0A0A-E86B-5C67-522B0A9A7367}"/>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176E4E71-1145-A444-E291-08EC5ACC6AE9}"/>
              </a:ext>
            </a:extLst>
          </p:cNvPr>
          <p:cNvSpPr>
            <a:spLocks noGrp="1"/>
          </p:cNvSpPr>
          <p:nvPr>
            <p:ph idx="1"/>
          </p:nvPr>
        </p:nvSpPr>
        <p:spPr>
          <a:xfrm>
            <a:off x="313420" y="980728"/>
            <a:ext cx="11875405" cy="5688632"/>
          </a:xfrm>
        </p:spPr>
        <p:txBody>
          <a:bodyPr vert="horz" lIns="91440" tIns="45720" rIns="91440" bIns="45720" rtlCol="0" anchor="t">
            <a:normAutofit/>
          </a:bodyPr>
          <a:lstStyle/>
          <a:p>
            <a:pPr>
              <a:lnSpc>
                <a:spcPct val="150000"/>
              </a:lnSpc>
              <a:spcBef>
                <a:spcPts val="100"/>
              </a:spcBef>
            </a:pPr>
            <a:r>
              <a:rPr lang="en-US" sz="2500" b="1" dirty="0"/>
              <a:t>Section 72 – Breach of Confidentiality and Privacy</a:t>
            </a:r>
          </a:p>
          <a:p>
            <a:pPr>
              <a:lnSpc>
                <a:spcPct val="150000"/>
              </a:lnSpc>
              <a:spcBef>
                <a:spcPts val="100"/>
              </a:spcBef>
            </a:pPr>
            <a:r>
              <a:rPr lang="en-US" b="1" dirty="0"/>
              <a:t>Who:</a:t>
            </a:r>
            <a:r>
              <a:rPr lang="en-US" dirty="0"/>
              <a:t> Any person who, under powers of the IT Act or rules, has secured access to any electronic record, book, register, correspondence, information, document or other material </a:t>
            </a:r>
            <a:r>
              <a:rPr lang="en-US" b="1" dirty="0"/>
              <a:t>without consent</a:t>
            </a:r>
            <a:r>
              <a:rPr lang="en-US" dirty="0"/>
              <a:t>.</a:t>
            </a:r>
          </a:p>
          <a:p>
            <a:pPr>
              <a:lnSpc>
                <a:spcPct val="150000"/>
              </a:lnSpc>
              <a:spcBef>
                <a:spcPts val="100"/>
              </a:spcBef>
            </a:pPr>
            <a:r>
              <a:rPr lang="en-US" b="1" dirty="0"/>
              <a:t>Act:</a:t>
            </a:r>
            <a:r>
              <a:rPr lang="en-US" dirty="0"/>
              <a:t> Discloses such material to any other person.</a:t>
            </a:r>
          </a:p>
          <a:p>
            <a:pPr>
              <a:lnSpc>
                <a:spcPct val="150000"/>
              </a:lnSpc>
              <a:spcBef>
                <a:spcPts val="100"/>
              </a:spcBef>
            </a:pPr>
            <a:r>
              <a:rPr lang="en-US" b="1" dirty="0"/>
              <a:t>Punishment:</a:t>
            </a:r>
            <a:r>
              <a:rPr lang="en-US" dirty="0"/>
              <a:t> Imprisonment up to </a:t>
            </a:r>
            <a:r>
              <a:rPr lang="en-US" b="1" dirty="0"/>
              <a:t>2 years</a:t>
            </a:r>
            <a:r>
              <a:rPr lang="en-US" dirty="0"/>
              <a:t> OR fine up to </a:t>
            </a:r>
            <a:r>
              <a:rPr lang="en-US" b="1" dirty="0"/>
              <a:t>₹1 lakh</a:t>
            </a:r>
            <a:r>
              <a:rPr lang="en-US" dirty="0"/>
              <a:t> OR both.</a:t>
            </a:r>
          </a:p>
          <a:p>
            <a:pPr>
              <a:lnSpc>
                <a:spcPct val="150000"/>
              </a:lnSpc>
              <a:spcBef>
                <a:spcPts val="100"/>
              </a:spcBef>
            </a:pPr>
            <a:r>
              <a:rPr lang="en-US" b="1" dirty="0"/>
              <a:t>Legal status:</a:t>
            </a:r>
            <a:r>
              <a:rPr lang="en-US" dirty="0"/>
              <a:t> Non‑cognizable, bailable (Section 77B).</a:t>
            </a:r>
          </a:p>
          <a:p>
            <a:pPr>
              <a:lnSpc>
                <a:spcPct val="150000"/>
              </a:lnSpc>
              <a:spcBef>
                <a:spcPts val="100"/>
              </a:spcBef>
            </a:pPr>
            <a:endParaRPr lang="en-US" dirty="0"/>
          </a:p>
          <a:p>
            <a:pPr>
              <a:lnSpc>
                <a:spcPct val="150000"/>
              </a:lnSpc>
              <a:spcBef>
                <a:spcPts val="100"/>
              </a:spcBef>
            </a:pPr>
            <a:r>
              <a:rPr lang="en-US" dirty="0"/>
              <a:t>Violates the confidentiality of information accessed through lawful authority, thereby reducing trust in digital systems. It creates fear among users regarding misuse of sensitive data by authorized persons. Even unauthorized disclosure without malicious intent is punishable under this section. This ensures strict responsibility and protection of personal and official information.</a:t>
            </a:r>
          </a:p>
          <a:p>
            <a:pPr>
              <a:lnSpc>
                <a:spcPct val="150000"/>
              </a:lnSpc>
              <a:spcBef>
                <a:spcPts val="100"/>
              </a:spcBef>
            </a:pPr>
            <a:endParaRPr lang="en-US" dirty="0"/>
          </a:p>
        </p:txBody>
      </p:sp>
    </p:spTree>
    <p:extLst>
      <p:ext uri="{BB962C8B-B14F-4D97-AF65-F5344CB8AC3E}">
        <p14:creationId xmlns:p14="http://schemas.microsoft.com/office/powerpoint/2010/main" val="3078147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30F92-7F35-3470-DC9E-770F68B84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7B5EF-DFEA-6C24-809B-EA32E9C879E5}"/>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C476097E-334E-6D04-23C6-C8DB8F3E7F5C}"/>
              </a:ext>
            </a:extLst>
          </p:cNvPr>
          <p:cNvSpPr>
            <a:spLocks noGrp="1"/>
          </p:cNvSpPr>
          <p:nvPr>
            <p:ph idx="1"/>
          </p:nvPr>
        </p:nvSpPr>
        <p:spPr>
          <a:xfrm>
            <a:off x="313420" y="620688"/>
            <a:ext cx="11875405" cy="6048672"/>
          </a:xfrm>
        </p:spPr>
        <p:txBody>
          <a:bodyPr vert="horz" lIns="91440" tIns="45720" rIns="91440" bIns="45720" rtlCol="0" anchor="t">
            <a:normAutofit/>
          </a:bodyPr>
          <a:lstStyle/>
          <a:p>
            <a:pPr>
              <a:lnSpc>
                <a:spcPct val="150000"/>
              </a:lnSpc>
              <a:spcBef>
                <a:spcPts val="100"/>
              </a:spcBef>
            </a:pPr>
            <a:endParaRPr lang="en-US" dirty="0"/>
          </a:p>
          <a:p>
            <a:pPr>
              <a:lnSpc>
                <a:spcPct val="150000"/>
              </a:lnSpc>
              <a:spcBef>
                <a:spcPts val="100"/>
              </a:spcBef>
            </a:pPr>
            <a:r>
              <a:rPr lang="en-US" sz="2500" b="1" dirty="0"/>
              <a:t>Section 72A – Disclosure of Information in Breach of Lawful Contract</a:t>
            </a:r>
          </a:p>
          <a:p>
            <a:pPr>
              <a:lnSpc>
                <a:spcPct val="150000"/>
              </a:lnSpc>
              <a:spcBef>
                <a:spcPts val="100"/>
              </a:spcBef>
            </a:pPr>
            <a:r>
              <a:rPr lang="en-US" b="1" dirty="0"/>
              <a:t>Who:</a:t>
            </a:r>
            <a:r>
              <a:rPr lang="en-US" dirty="0"/>
              <a:t> Any person including an </a:t>
            </a:r>
            <a:r>
              <a:rPr lang="en-US" b="1" dirty="0"/>
              <a:t>intermediary</a:t>
            </a:r>
            <a:r>
              <a:rPr lang="en-US" dirty="0"/>
              <a:t>, while providing services under a </a:t>
            </a:r>
            <a:r>
              <a:rPr lang="en-US" b="1" dirty="0"/>
              <a:t>lawful contract</a:t>
            </a:r>
            <a:r>
              <a:rPr lang="en-US" dirty="0"/>
              <a:t>, secures access to </a:t>
            </a:r>
            <a:r>
              <a:rPr lang="en-US" b="1" dirty="0"/>
              <a:t>personal information</a:t>
            </a:r>
            <a:r>
              <a:rPr lang="en-US" dirty="0"/>
              <a:t> of another.</a:t>
            </a:r>
          </a:p>
          <a:p>
            <a:pPr>
              <a:lnSpc>
                <a:spcPct val="150000"/>
              </a:lnSpc>
              <a:spcBef>
                <a:spcPts val="100"/>
              </a:spcBef>
            </a:pPr>
            <a:r>
              <a:rPr lang="en-US" b="1" dirty="0"/>
              <a:t>Intention:</a:t>
            </a:r>
            <a:r>
              <a:rPr lang="en-US" dirty="0"/>
              <a:t> With intent to cause, or knowledge that he is likely to cause, </a:t>
            </a:r>
            <a:r>
              <a:rPr lang="en-US" b="1" dirty="0"/>
              <a:t>wrongful loss or wrongful gain</a:t>
            </a:r>
            <a:r>
              <a:rPr lang="en-US" dirty="0"/>
              <a:t>.</a:t>
            </a:r>
          </a:p>
          <a:p>
            <a:pPr>
              <a:lnSpc>
                <a:spcPct val="150000"/>
              </a:lnSpc>
              <a:spcBef>
                <a:spcPts val="100"/>
              </a:spcBef>
            </a:pPr>
            <a:r>
              <a:rPr lang="en-US" b="1" dirty="0"/>
              <a:t>Act:</a:t>
            </a:r>
            <a:r>
              <a:rPr lang="en-US" dirty="0"/>
              <a:t> Discloses that material without consent </a:t>
            </a:r>
            <a:r>
              <a:rPr lang="en-US" b="1" dirty="0"/>
              <a:t>or</a:t>
            </a:r>
            <a:r>
              <a:rPr lang="en-US" dirty="0"/>
              <a:t> in breach of the contract.</a:t>
            </a:r>
          </a:p>
          <a:p>
            <a:pPr>
              <a:lnSpc>
                <a:spcPct val="150000"/>
              </a:lnSpc>
              <a:spcBef>
                <a:spcPts val="100"/>
              </a:spcBef>
            </a:pPr>
            <a:r>
              <a:rPr lang="en-US" b="1" dirty="0"/>
              <a:t>Punishment:</a:t>
            </a:r>
            <a:r>
              <a:rPr lang="en-US" dirty="0"/>
              <a:t> Imprisonment up to </a:t>
            </a:r>
            <a:r>
              <a:rPr lang="en-US" b="1" dirty="0"/>
              <a:t>3 years</a:t>
            </a:r>
            <a:r>
              <a:rPr lang="en-US" dirty="0"/>
              <a:t> OR fine up to </a:t>
            </a:r>
            <a:r>
              <a:rPr lang="en-US" b="1" dirty="0"/>
              <a:t>₹5 lakh</a:t>
            </a:r>
            <a:r>
              <a:rPr lang="en-US" dirty="0"/>
              <a:t> OR both.</a:t>
            </a:r>
          </a:p>
          <a:p>
            <a:pPr>
              <a:lnSpc>
                <a:spcPct val="150000"/>
              </a:lnSpc>
              <a:spcBef>
                <a:spcPts val="100"/>
              </a:spcBef>
            </a:pPr>
            <a:r>
              <a:rPr lang="en-US" b="1" dirty="0"/>
              <a:t>Legal status:</a:t>
            </a:r>
            <a:r>
              <a:rPr lang="en-US" dirty="0"/>
              <a:t> Cognizable, bailable (Section 77B)</a:t>
            </a:r>
          </a:p>
          <a:p>
            <a:pPr>
              <a:lnSpc>
                <a:spcPct val="150000"/>
              </a:lnSpc>
              <a:spcBef>
                <a:spcPts val="100"/>
              </a:spcBef>
            </a:pPr>
            <a:endParaRPr lang="en-US" dirty="0"/>
          </a:p>
          <a:p>
            <a:pPr>
              <a:lnSpc>
                <a:spcPct val="150000"/>
              </a:lnSpc>
              <a:spcBef>
                <a:spcPts val="100"/>
              </a:spcBef>
            </a:pPr>
            <a:r>
              <a:rPr lang="en-US" dirty="0"/>
              <a:t>Undermines both confidentiality and trust in contractual relationships involving personal data. It discourages misuse of information obtained during service delivery or professional engagement. Disclosure with intent to cause wrongful loss or gain makes the offence more serious. This ensures accountability and strengthens data protection in business and service sectors.</a:t>
            </a:r>
          </a:p>
          <a:p>
            <a:pPr>
              <a:lnSpc>
                <a:spcPct val="150000"/>
              </a:lnSpc>
              <a:spcBef>
                <a:spcPts val="100"/>
              </a:spcBef>
            </a:pPr>
            <a:endParaRPr lang="en-US" dirty="0"/>
          </a:p>
          <a:p>
            <a:pPr>
              <a:lnSpc>
                <a:spcPct val="150000"/>
              </a:lnSpc>
              <a:spcBef>
                <a:spcPts val="100"/>
              </a:spcBef>
            </a:pPr>
            <a:endParaRPr lang="en-US" dirty="0"/>
          </a:p>
        </p:txBody>
      </p:sp>
    </p:spTree>
    <p:extLst>
      <p:ext uri="{BB962C8B-B14F-4D97-AF65-F5344CB8AC3E}">
        <p14:creationId xmlns:p14="http://schemas.microsoft.com/office/powerpoint/2010/main" val="140524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D3F2-CD2A-9E25-BB1E-15F1EE49A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6D22E-00D8-1518-E536-06D774E9496B}"/>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CC941D57-107D-E58F-DA2B-C05225C054F3}"/>
              </a:ext>
            </a:extLst>
          </p:cNvPr>
          <p:cNvSpPr>
            <a:spLocks noGrp="1"/>
          </p:cNvSpPr>
          <p:nvPr>
            <p:ph idx="1"/>
          </p:nvPr>
        </p:nvSpPr>
        <p:spPr>
          <a:xfrm>
            <a:off x="313420" y="980728"/>
            <a:ext cx="11875405" cy="5688632"/>
          </a:xfrm>
        </p:spPr>
        <p:txBody>
          <a:bodyPr vert="horz" lIns="91440" tIns="45720" rIns="91440" bIns="45720" rtlCol="0" anchor="t">
            <a:normAutofit/>
          </a:bodyPr>
          <a:lstStyle/>
          <a:p>
            <a:r>
              <a:rPr lang="en-US" sz="2500" b="1" dirty="0"/>
              <a:t>Section 71 – Misrepresentation</a:t>
            </a:r>
          </a:p>
          <a:p>
            <a:pPr>
              <a:lnSpc>
                <a:spcPct val="100000"/>
              </a:lnSpc>
            </a:pPr>
            <a:r>
              <a:rPr lang="en-US" b="1" dirty="0"/>
              <a:t>Who:</a:t>
            </a:r>
            <a:r>
              <a:rPr lang="en-US" dirty="0"/>
              <a:t> Any person dealing with the </a:t>
            </a:r>
            <a:r>
              <a:rPr lang="en-US" i="1" dirty="0"/>
              <a:t>Controller or Certifying Authority ( </a:t>
            </a:r>
            <a:r>
              <a:rPr lang="en-US" dirty="0"/>
              <a:t>refers to the authorities governing </a:t>
            </a:r>
            <a:r>
              <a:rPr lang="en-US" b="1" dirty="0"/>
              <a:t>Digital Signatures</a:t>
            </a:r>
            <a:r>
              <a:rPr lang="en-US" dirty="0"/>
              <a:t> in India </a:t>
            </a:r>
            <a:r>
              <a:rPr lang="en-US" i="1" dirty="0"/>
              <a:t>)</a:t>
            </a:r>
            <a:r>
              <a:rPr lang="en-US" dirty="0"/>
              <a:t>under the IT Act.</a:t>
            </a:r>
          </a:p>
          <a:p>
            <a:pPr>
              <a:lnSpc>
                <a:spcPct val="100000"/>
              </a:lnSpc>
            </a:pPr>
            <a:r>
              <a:rPr lang="en-US" b="1" dirty="0"/>
              <a:t>Intention:</a:t>
            </a:r>
            <a:r>
              <a:rPr lang="en-US" dirty="0"/>
              <a:t> To obtain a license, Digital Signature Certificate, or any approval by providing </a:t>
            </a:r>
            <a:r>
              <a:rPr lang="en-US" i="1" dirty="0"/>
              <a:t>false information</a:t>
            </a:r>
            <a:r>
              <a:rPr lang="en-US" dirty="0"/>
              <a:t> or </a:t>
            </a:r>
            <a:r>
              <a:rPr lang="en-US" i="1" dirty="0"/>
              <a:t>suppressing material facts</a:t>
            </a:r>
            <a:r>
              <a:rPr lang="en-US" dirty="0"/>
              <a:t>.</a:t>
            </a:r>
          </a:p>
          <a:p>
            <a:pPr>
              <a:lnSpc>
                <a:spcPct val="100000"/>
              </a:lnSpc>
            </a:pPr>
            <a:r>
              <a:rPr lang="en-US" b="1" dirty="0"/>
              <a:t>Act:</a:t>
            </a:r>
            <a:r>
              <a:rPr lang="en-US" dirty="0"/>
              <a:t> Makes misrepresentation or conceals important information.</a:t>
            </a:r>
          </a:p>
          <a:p>
            <a:pPr>
              <a:lnSpc>
                <a:spcPct val="100000"/>
              </a:lnSpc>
            </a:pPr>
            <a:r>
              <a:rPr lang="en-US" b="1" dirty="0"/>
              <a:t>Punishment:</a:t>
            </a:r>
            <a:r>
              <a:rPr lang="en-US" dirty="0"/>
              <a:t> Imprisonment up to </a:t>
            </a:r>
            <a:r>
              <a:rPr lang="en-US" b="1" dirty="0"/>
              <a:t>2 years</a:t>
            </a:r>
            <a:r>
              <a:rPr lang="en-US" dirty="0"/>
              <a:t> OR fine up to </a:t>
            </a:r>
            <a:r>
              <a:rPr lang="en-US" b="1" dirty="0"/>
              <a:t>₹1 lakh</a:t>
            </a:r>
            <a:r>
              <a:rPr lang="en-US" dirty="0"/>
              <a:t> OR both.</a:t>
            </a:r>
          </a:p>
          <a:p>
            <a:pPr>
              <a:lnSpc>
                <a:spcPct val="100000"/>
              </a:lnSpc>
            </a:pPr>
            <a:r>
              <a:rPr lang="en-US" b="1" dirty="0"/>
              <a:t>Legal status:</a:t>
            </a:r>
            <a:r>
              <a:rPr lang="en-US" dirty="0"/>
              <a:t> Non-Cognizable, bailable (Section 77B)</a:t>
            </a:r>
          </a:p>
          <a:p>
            <a:r>
              <a:rPr lang="en-US" dirty="0"/>
              <a:t>Undermines the </a:t>
            </a:r>
            <a:r>
              <a:rPr lang="en-US" i="1" dirty="0"/>
              <a:t>integrity and trustworthiness</a:t>
            </a:r>
            <a:r>
              <a:rPr lang="en-US" dirty="0"/>
              <a:t> of electronic records and certification systems. It weakens the reliability of digital authentication mechanisms used in secure communications.  Even omission of critical facts is treated as misrepresentation under this section. This ensures transparency and accountability in digital certification processes.</a:t>
            </a:r>
          </a:p>
          <a:p>
            <a:endParaRPr lang="en-US" dirty="0"/>
          </a:p>
          <a:p>
            <a:endParaRPr lang="en-US" dirty="0"/>
          </a:p>
        </p:txBody>
      </p:sp>
    </p:spTree>
    <p:extLst>
      <p:ext uri="{BB962C8B-B14F-4D97-AF65-F5344CB8AC3E}">
        <p14:creationId xmlns:p14="http://schemas.microsoft.com/office/powerpoint/2010/main" val="654092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8F08-8AE6-C9A1-DCB2-421021D07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17E74-B72F-73F2-24E7-8F2CDB364DFC}"/>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086B6116-8494-5FCE-396D-CB872E86A596}"/>
              </a:ext>
            </a:extLst>
          </p:cNvPr>
          <p:cNvSpPr>
            <a:spLocks noGrp="1"/>
          </p:cNvSpPr>
          <p:nvPr>
            <p:ph idx="1"/>
          </p:nvPr>
        </p:nvSpPr>
        <p:spPr>
          <a:xfrm>
            <a:off x="313420" y="1052736"/>
            <a:ext cx="11875405" cy="5616624"/>
          </a:xfrm>
        </p:spPr>
        <p:txBody>
          <a:bodyPr vert="horz" lIns="91440" tIns="45720" rIns="91440" bIns="45720" rtlCol="0" anchor="t">
            <a:normAutofit/>
          </a:bodyPr>
          <a:lstStyle/>
          <a:p>
            <a:r>
              <a:rPr lang="en-US" sz="2500" b="1" dirty="0"/>
              <a:t>Section 73 – Publishing False Electronic Signature Certificate</a:t>
            </a:r>
          </a:p>
          <a:p>
            <a:r>
              <a:rPr lang="en-US" b="1" dirty="0"/>
              <a:t>Section 73</a:t>
            </a:r>
            <a:r>
              <a:rPr lang="en-US" dirty="0"/>
              <a:t> is about the </a:t>
            </a:r>
            <a:r>
              <a:rPr lang="en-US" b="1" dirty="0"/>
              <a:t>falsity</a:t>
            </a:r>
            <a:r>
              <a:rPr lang="en-US" dirty="0"/>
              <a:t> of the certificate (it’s fake or expired).</a:t>
            </a:r>
            <a:endParaRPr lang="en-US" b="1" dirty="0"/>
          </a:p>
          <a:p>
            <a:r>
              <a:rPr lang="en-US" b="1" dirty="0"/>
              <a:t>Who:</a:t>
            </a:r>
            <a:r>
              <a:rPr lang="en-US" dirty="0"/>
              <a:t> Any person who publishes a </a:t>
            </a:r>
            <a:r>
              <a:rPr lang="en-US" i="1" dirty="0"/>
              <a:t>Digital Signature Certificate</a:t>
            </a:r>
            <a:r>
              <a:rPr lang="en-US" dirty="0"/>
              <a:t>.</a:t>
            </a:r>
          </a:p>
          <a:p>
            <a:r>
              <a:rPr lang="en-US" b="1" dirty="0"/>
              <a:t>Intention:</a:t>
            </a:r>
            <a:r>
              <a:rPr lang="en-US" dirty="0"/>
              <a:t> Knowing that the certificate is </a:t>
            </a:r>
            <a:r>
              <a:rPr lang="en-US" i="1" dirty="0"/>
              <a:t>false, not issued</a:t>
            </a:r>
            <a:r>
              <a:rPr lang="en-US" dirty="0"/>
              <a:t>, or has been </a:t>
            </a:r>
            <a:r>
              <a:rPr lang="en-US" i="1" dirty="0"/>
              <a:t>revoked/suspended</a:t>
            </a:r>
            <a:r>
              <a:rPr lang="en-US" dirty="0"/>
              <a:t>.</a:t>
            </a:r>
          </a:p>
          <a:p>
            <a:r>
              <a:rPr lang="en-US" b="1" dirty="0"/>
              <a:t>Act:</a:t>
            </a:r>
            <a:r>
              <a:rPr lang="en-US" dirty="0"/>
              <a:t> Publishes or makes available a false Digital Signature Certificate.</a:t>
            </a:r>
          </a:p>
          <a:p>
            <a:r>
              <a:rPr lang="en-US" b="1" dirty="0"/>
              <a:t>Punishment:</a:t>
            </a:r>
            <a:r>
              <a:rPr lang="en-US" dirty="0"/>
              <a:t> Imprisonment up to </a:t>
            </a:r>
            <a:r>
              <a:rPr lang="en-US" b="1" dirty="0"/>
              <a:t>2 years</a:t>
            </a:r>
            <a:r>
              <a:rPr lang="en-US" dirty="0"/>
              <a:t> OR fine up to </a:t>
            </a:r>
            <a:r>
              <a:rPr lang="en-US" b="1" dirty="0"/>
              <a:t>₹1 lakh</a:t>
            </a:r>
            <a:r>
              <a:rPr lang="en-US" dirty="0"/>
              <a:t> OR both.</a:t>
            </a:r>
          </a:p>
          <a:p>
            <a:r>
              <a:rPr lang="en-US" b="1" dirty="0"/>
              <a:t>Legal status:</a:t>
            </a:r>
            <a:r>
              <a:rPr lang="en-US" dirty="0"/>
              <a:t> Cognizable, bailable (Section 77B)</a:t>
            </a:r>
          </a:p>
          <a:p>
            <a:r>
              <a:rPr lang="en-US" dirty="0"/>
              <a:t>Directly affects the </a:t>
            </a:r>
            <a:r>
              <a:rPr lang="en-US" i="1" dirty="0"/>
              <a:t>integrity and authenticity</a:t>
            </a:r>
            <a:r>
              <a:rPr lang="en-US" dirty="0"/>
              <a:t> of electronic transactions and communications. It can mislead users into trusting forged identities in digital environments. This section is crucial in preventing identity fraud in e-commerce and e-governance systems. It ensures that only valid and verified digital certificates are relied upon.</a:t>
            </a:r>
          </a:p>
          <a:p>
            <a:endParaRPr lang="en-US" dirty="0"/>
          </a:p>
        </p:txBody>
      </p:sp>
    </p:spTree>
    <p:extLst>
      <p:ext uri="{BB962C8B-B14F-4D97-AF65-F5344CB8AC3E}">
        <p14:creationId xmlns:p14="http://schemas.microsoft.com/office/powerpoint/2010/main" val="4229069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4845-1A60-EAD0-126B-D35D832AB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773CA-D84B-CE3B-87AF-5F8A299F5EC4}"/>
              </a:ext>
            </a:extLst>
          </p:cNvPr>
          <p:cNvSpPr>
            <a:spLocks noGrp="1"/>
          </p:cNvSpPr>
          <p:nvPr>
            <p:ph type="title"/>
          </p:nvPr>
        </p:nvSpPr>
        <p:spPr>
          <a:xfrm>
            <a:off x="313420" y="188640"/>
            <a:ext cx="10749544" cy="1447800"/>
          </a:xfrm>
        </p:spPr>
        <p:txBody>
          <a:bodyPr anchor="t">
            <a:normAutofit/>
          </a:bodyPr>
          <a:lstStyle/>
          <a:p>
            <a:r>
              <a:rPr lang="en-US" dirty="0"/>
              <a:t>Core Legal Provisions on Confidentiality &amp; Privacy</a:t>
            </a:r>
          </a:p>
        </p:txBody>
      </p:sp>
      <p:sp>
        <p:nvSpPr>
          <p:cNvPr id="3" name="Content Placeholder 2">
            <a:extLst>
              <a:ext uri="{FF2B5EF4-FFF2-40B4-BE49-F238E27FC236}">
                <a16:creationId xmlns:a16="http://schemas.microsoft.com/office/drawing/2014/main" id="{F7BDC8C4-FEEA-7E0F-EBAA-6A606A6FBA8A}"/>
              </a:ext>
            </a:extLst>
          </p:cNvPr>
          <p:cNvSpPr>
            <a:spLocks noGrp="1"/>
          </p:cNvSpPr>
          <p:nvPr>
            <p:ph idx="1"/>
          </p:nvPr>
        </p:nvSpPr>
        <p:spPr>
          <a:xfrm>
            <a:off x="313420" y="1268760"/>
            <a:ext cx="11875405" cy="5400600"/>
          </a:xfrm>
        </p:spPr>
        <p:txBody>
          <a:bodyPr vert="horz" lIns="91440" tIns="45720" rIns="91440" bIns="45720" rtlCol="0" anchor="t">
            <a:normAutofit lnSpcReduction="10000"/>
          </a:bodyPr>
          <a:lstStyle/>
          <a:p>
            <a:r>
              <a:rPr lang="en-US" sz="2500" b="1" dirty="0"/>
              <a:t>Section 74 – Publication for Fraudulent Purpose</a:t>
            </a:r>
          </a:p>
          <a:p>
            <a:r>
              <a:rPr lang="en-US" b="1" dirty="0"/>
              <a:t>Section 74</a:t>
            </a:r>
            <a:r>
              <a:rPr lang="en-US" dirty="0"/>
              <a:t> is about the </a:t>
            </a:r>
            <a:r>
              <a:rPr lang="en-US" b="1" dirty="0"/>
              <a:t>purpose</a:t>
            </a:r>
            <a:r>
              <a:rPr lang="en-US" dirty="0"/>
              <a:t> (using even a real-looking certificate to commit a scam).</a:t>
            </a:r>
            <a:endParaRPr lang="en-US" b="1" dirty="0"/>
          </a:p>
          <a:p>
            <a:r>
              <a:rPr lang="en-US" b="1" dirty="0"/>
              <a:t>Who:</a:t>
            </a:r>
            <a:r>
              <a:rPr lang="en-US" dirty="0"/>
              <a:t> Any person who publishes a Digital Signature Certificate.</a:t>
            </a:r>
          </a:p>
          <a:p>
            <a:r>
              <a:rPr lang="en-US" b="1" dirty="0"/>
              <a:t>Intention:</a:t>
            </a:r>
            <a:r>
              <a:rPr lang="en-US" dirty="0"/>
              <a:t> With </a:t>
            </a:r>
            <a:r>
              <a:rPr lang="en-US" i="1" dirty="0"/>
              <a:t>fraudulent or unlawful purpose</a:t>
            </a:r>
            <a:r>
              <a:rPr lang="en-US" dirty="0"/>
              <a:t>.</a:t>
            </a:r>
          </a:p>
          <a:p>
            <a:r>
              <a:rPr lang="en-US" b="1" dirty="0"/>
              <a:t>Act:</a:t>
            </a:r>
            <a:r>
              <a:rPr lang="en-US" dirty="0"/>
              <a:t> Publishes or uses a Digital Signature Certificate to commit fraud.</a:t>
            </a:r>
          </a:p>
          <a:p>
            <a:r>
              <a:rPr lang="en-US" b="1" dirty="0"/>
              <a:t>Punishment:</a:t>
            </a:r>
            <a:r>
              <a:rPr lang="en-US" dirty="0"/>
              <a:t> Imprisonment up to </a:t>
            </a:r>
            <a:r>
              <a:rPr lang="en-US" b="1" dirty="0"/>
              <a:t>2 years</a:t>
            </a:r>
            <a:r>
              <a:rPr lang="en-US" dirty="0"/>
              <a:t> OR fine up to </a:t>
            </a:r>
            <a:r>
              <a:rPr lang="en-US" b="1" dirty="0"/>
              <a:t>₹1 lakh</a:t>
            </a:r>
            <a:r>
              <a:rPr lang="en-US" dirty="0"/>
              <a:t> OR both.</a:t>
            </a:r>
          </a:p>
          <a:p>
            <a:r>
              <a:rPr lang="en-US" b="1" dirty="0"/>
              <a:t>Legal status:</a:t>
            </a:r>
            <a:r>
              <a:rPr lang="en-US" dirty="0"/>
              <a:t> Cognizable, bailable (Section 77B).</a:t>
            </a:r>
          </a:p>
          <a:p>
            <a:endParaRPr lang="en-US" dirty="0"/>
          </a:p>
          <a:p>
            <a:r>
              <a:rPr lang="en-US" dirty="0"/>
              <a:t>Compromises both </a:t>
            </a:r>
            <a:r>
              <a:rPr lang="en-US" i="1" dirty="0"/>
              <a:t>confidentiality and integrity</a:t>
            </a:r>
            <a:r>
              <a:rPr lang="en-US" dirty="0"/>
              <a:t> by enabling unauthorized or deceptive electronic activities. It allows attackers to impersonate legitimate users and access sensitive information . This provision acts as a deterrent against misuse of digital identity tools in cybercrimes. It also strengthens trust in secure digital communication systems.</a:t>
            </a:r>
          </a:p>
          <a:p>
            <a:endParaRPr lang="en-US" dirty="0"/>
          </a:p>
        </p:txBody>
      </p:sp>
    </p:spTree>
    <p:extLst>
      <p:ext uri="{BB962C8B-B14F-4D97-AF65-F5344CB8AC3E}">
        <p14:creationId xmlns:p14="http://schemas.microsoft.com/office/powerpoint/2010/main" val="1805803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DE2FC-F4D4-9C78-6299-D81367F29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02A7C-0E99-3F2B-DD10-1EA8ACC0473B}"/>
              </a:ext>
            </a:extLst>
          </p:cNvPr>
          <p:cNvSpPr>
            <a:spLocks noGrp="1"/>
          </p:cNvSpPr>
          <p:nvPr>
            <p:ph type="title"/>
          </p:nvPr>
        </p:nvSpPr>
        <p:spPr>
          <a:xfrm>
            <a:off x="313420" y="188640"/>
            <a:ext cx="10749544" cy="1447800"/>
          </a:xfrm>
        </p:spPr>
        <p:txBody>
          <a:bodyPr anchor="t">
            <a:normAutofit/>
          </a:bodyPr>
          <a:lstStyle/>
          <a:p>
            <a:r>
              <a:rPr lang="en-IN" dirty="0"/>
              <a:t>Procedural Aspects &amp; Enforcement Mechanisms</a:t>
            </a:r>
          </a:p>
        </p:txBody>
      </p:sp>
      <p:sp>
        <p:nvSpPr>
          <p:cNvPr id="3" name="Content Placeholder 2">
            <a:extLst>
              <a:ext uri="{FF2B5EF4-FFF2-40B4-BE49-F238E27FC236}">
                <a16:creationId xmlns:a16="http://schemas.microsoft.com/office/drawing/2014/main" id="{B91DFAF3-9CCC-75CD-B5D6-7BDEA03D3F44}"/>
              </a:ext>
            </a:extLst>
          </p:cNvPr>
          <p:cNvSpPr>
            <a:spLocks noGrp="1"/>
          </p:cNvSpPr>
          <p:nvPr>
            <p:ph idx="1"/>
          </p:nvPr>
        </p:nvSpPr>
        <p:spPr>
          <a:xfrm>
            <a:off x="313420" y="1124744"/>
            <a:ext cx="11875405" cy="5544616"/>
          </a:xfrm>
        </p:spPr>
        <p:txBody>
          <a:bodyPr vert="horz" lIns="91440" tIns="45720" rIns="91440" bIns="45720" rtlCol="0" anchor="t">
            <a:normAutofit/>
          </a:bodyPr>
          <a:lstStyle/>
          <a:p>
            <a:r>
              <a:rPr lang="en-US" sz="2500" b="1" dirty="0"/>
              <a:t>Section 77B – Cognizance &amp; Bail</a:t>
            </a:r>
            <a:endParaRPr lang="en-US" sz="2500" dirty="0"/>
          </a:p>
          <a:p>
            <a:pPr lvl="1"/>
            <a:endParaRPr lang="en-US" b="1" dirty="0"/>
          </a:p>
          <a:p>
            <a:pPr lvl="1"/>
            <a:r>
              <a:rPr lang="en-US" b="1" dirty="0"/>
              <a:t>Cognizable Offence: </a:t>
            </a:r>
            <a:r>
              <a:rPr lang="en-US" dirty="0"/>
              <a:t>Offenses punishable with imprisonment of 3 years or more are cognizable (Police can arrest without a warrant). </a:t>
            </a:r>
          </a:p>
          <a:p>
            <a:pPr lvl="1"/>
            <a:r>
              <a:rPr lang="en-US" b="1" dirty="0"/>
              <a:t>Non-Cognizable Offence: </a:t>
            </a:r>
            <a:r>
              <a:rPr lang="en-US" dirty="0"/>
              <a:t>Offenses punishable with imprisonment of less than 3 years are non-cognizable</a:t>
            </a:r>
          </a:p>
          <a:p>
            <a:pPr lvl="1"/>
            <a:r>
              <a:rPr lang="en-US" dirty="0"/>
              <a:t>However, the Act specifies that all offenses under the IT Act are </a:t>
            </a:r>
            <a:r>
              <a:rPr lang="en-US" b="1" dirty="0"/>
              <a:t>bailable</a:t>
            </a:r>
            <a:r>
              <a:rPr lang="en-US" dirty="0"/>
              <a:t>, </a:t>
            </a:r>
            <a:r>
              <a:rPr lang="en-US" i="1" dirty="0"/>
              <a:t>except</a:t>
            </a:r>
            <a:r>
              <a:rPr lang="en-US" dirty="0"/>
              <a:t> for those specifically listed otherwise (like cyber terrorism or child pornography)</a:t>
            </a:r>
          </a:p>
          <a:p>
            <a:pPr lvl="1"/>
            <a:endParaRPr lang="en-US" i="1" dirty="0"/>
          </a:p>
          <a:p>
            <a:pPr lvl="1"/>
            <a:r>
              <a:rPr lang="en-US" i="1" dirty="0"/>
              <a:t>Example:</a:t>
            </a:r>
            <a:r>
              <a:rPr lang="en-US" dirty="0"/>
              <a:t> Section 72 (2 years) → non‑cognizable, bailable. Section 72A (3 years) → cognizable, bailable.</a:t>
            </a:r>
          </a:p>
          <a:p>
            <a:pPr lvl="1"/>
            <a:endParaRPr lang="en-US" dirty="0"/>
          </a:p>
        </p:txBody>
      </p:sp>
    </p:spTree>
    <p:extLst>
      <p:ext uri="{BB962C8B-B14F-4D97-AF65-F5344CB8AC3E}">
        <p14:creationId xmlns:p14="http://schemas.microsoft.com/office/powerpoint/2010/main" val="362386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7CDE-47E6-D268-2331-6DA89EA72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A8AE2-1729-5D26-AD5D-769A47C8996D}"/>
              </a:ext>
            </a:extLst>
          </p:cNvPr>
          <p:cNvSpPr>
            <a:spLocks noGrp="1"/>
          </p:cNvSpPr>
          <p:nvPr>
            <p:ph type="title"/>
          </p:nvPr>
        </p:nvSpPr>
        <p:spPr>
          <a:xfrm>
            <a:off x="313420" y="188640"/>
            <a:ext cx="10749544" cy="1447800"/>
          </a:xfrm>
        </p:spPr>
        <p:txBody>
          <a:bodyPr anchor="t">
            <a:normAutofit/>
          </a:bodyPr>
          <a:lstStyle/>
          <a:p>
            <a:r>
              <a:rPr lang="en-IN" dirty="0"/>
              <a:t>Procedural Aspects &amp; Enforcement Mechanisms</a:t>
            </a:r>
          </a:p>
        </p:txBody>
      </p:sp>
      <p:sp>
        <p:nvSpPr>
          <p:cNvPr id="3" name="Content Placeholder 2">
            <a:extLst>
              <a:ext uri="{FF2B5EF4-FFF2-40B4-BE49-F238E27FC236}">
                <a16:creationId xmlns:a16="http://schemas.microsoft.com/office/drawing/2014/main" id="{351515D6-EA69-EC70-61C8-CF4C47A5C11C}"/>
              </a:ext>
            </a:extLst>
          </p:cNvPr>
          <p:cNvSpPr>
            <a:spLocks noGrp="1"/>
          </p:cNvSpPr>
          <p:nvPr>
            <p:ph idx="1"/>
          </p:nvPr>
        </p:nvSpPr>
        <p:spPr>
          <a:xfrm>
            <a:off x="313420" y="1124744"/>
            <a:ext cx="11875405" cy="5544616"/>
          </a:xfrm>
        </p:spPr>
        <p:txBody>
          <a:bodyPr vert="horz" lIns="91440" tIns="45720" rIns="91440" bIns="45720" rtlCol="0" anchor="t">
            <a:normAutofit/>
          </a:bodyPr>
          <a:lstStyle/>
          <a:p>
            <a:r>
              <a:rPr lang="en-US" sz="2500" b="1" dirty="0"/>
              <a:t>Section 80 – Powers of Police to Enter and Search</a:t>
            </a:r>
          </a:p>
          <a:p>
            <a:r>
              <a:rPr lang="en-US" b="1" dirty="0"/>
              <a:t>Who: </a:t>
            </a:r>
            <a:r>
              <a:rPr lang="en-US" dirty="0"/>
              <a:t>Any police officer not below the rank of Inspector or any other officer authorized by the Central Government.</a:t>
            </a:r>
          </a:p>
          <a:p>
            <a:r>
              <a:rPr lang="en-US" b="1" dirty="0"/>
              <a:t>Where: </a:t>
            </a:r>
            <a:r>
              <a:rPr lang="en-US" dirty="0"/>
              <a:t>These powers are specifically applicable to any public place.</a:t>
            </a:r>
          </a:p>
          <a:p>
            <a:r>
              <a:rPr lang="en-US" b="1" dirty="0"/>
              <a:t>Condition: </a:t>
            </a:r>
            <a:r>
              <a:rPr lang="en-US" dirty="0"/>
              <a:t>The officer must have reasonable suspicion that an offense under this Act has been, or is being, committed.</a:t>
            </a:r>
          </a:p>
          <a:p>
            <a:r>
              <a:rPr lang="en-US" b="1" dirty="0"/>
              <a:t>Act: </a:t>
            </a:r>
            <a:r>
              <a:rPr lang="en-US" dirty="0"/>
              <a:t>The officer may enter, search, and arrest any person without a warrant.</a:t>
            </a:r>
          </a:p>
          <a:p>
            <a:r>
              <a:rPr lang="en-US" b="1" dirty="0"/>
              <a:t>Legal Safeguard: </a:t>
            </a:r>
            <a:r>
              <a:rPr lang="en-US" dirty="0"/>
              <a:t>The search must respect individual rights and be conducted according to legal procedures to ensure dignity and legality</a:t>
            </a:r>
          </a:p>
        </p:txBody>
      </p:sp>
    </p:spTree>
    <p:extLst>
      <p:ext uri="{BB962C8B-B14F-4D97-AF65-F5344CB8AC3E}">
        <p14:creationId xmlns:p14="http://schemas.microsoft.com/office/powerpoint/2010/main" val="234393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5086300" y="332656"/>
            <a:ext cx="4572000" cy="5867400"/>
          </a:xfrm>
        </p:spPr>
        <p:txBody>
          <a:bodyPr>
            <a:normAutofit/>
          </a:bodyPr>
          <a:lstStyle/>
          <a:p>
            <a:r>
              <a:rPr lang="en-US" dirty="0"/>
              <a:t>Thank you</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7.potx" id="{B4376E67-A46A-4922-AE0D-3354FC109E20}" vid="{F49CC2A7-BC98-4F28-8A83-D1D23E8024B9}"/>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050606-E255-48B6-AE23-CE03A589EB22}">
  <ds:schemaRef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230e9df3-be65-4c73-a93b-d1236ebd677e"/>
    <ds:schemaRef ds:uri="http://purl.org/dc/dcmitype/"/>
    <ds:schemaRef ds:uri="http://purl.org/dc/elements/1.1/"/>
    <ds:schemaRef ds:uri="16c05727-aa75-4e4a-9b5f-8a80a1165891"/>
    <ds:schemaRef ds:uri="71af3243-3dd4-4a8d-8c0d-dd76da1f02a5"/>
    <ds:schemaRef ds:uri="http://schemas.microsoft.com/sharepoint/v3"/>
    <ds:schemaRef ds:uri="http://purl.org/dc/terms/"/>
  </ds:schemaRefs>
</ds:datastoreItem>
</file>

<file path=customXml/itemProps2.xml><?xml version="1.0" encoding="utf-8"?>
<ds:datastoreItem xmlns:ds="http://schemas.openxmlformats.org/officeDocument/2006/customXml" ds:itemID="{4C37B52A-9EC8-4B7A-85C4-31F7EAFE403D}">
  <ds:schemaRefs>
    <ds:schemaRef ds:uri="http://schemas.microsoft.com/sharepoint/v3/contenttype/forms"/>
  </ds:schemaRefs>
</ds:datastoreItem>
</file>

<file path=customXml/itemProps3.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Business strategy slides</Template>
  <TotalTime>78</TotalTime>
  <Words>1153</Words>
  <Application>Microsoft Office PowerPoint</Application>
  <PresentationFormat>Custom</PresentationFormat>
  <Paragraphs>71</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Bahnschrift Condensed</vt:lpstr>
      <vt:lpstr>Century Gothic</vt:lpstr>
      <vt:lpstr>Palatino Linotype</vt:lpstr>
      <vt:lpstr>Custom</vt:lpstr>
      <vt:lpstr>Breach of Confidentiality  and Privacy under  the IT Act</vt:lpstr>
      <vt:lpstr>Introduction</vt:lpstr>
      <vt:lpstr>Core Legal Provisions on Confidentiality &amp; Privacy</vt:lpstr>
      <vt:lpstr>Core Legal Provisions on Confidentiality &amp; Privacy</vt:lpstr>
      <vt:lpstr>Core Legal Provisions on Confidentiality &amp; Privacy</vt:lpstr>
      <vt:lpstr>Core Legal Provisions on Confidentiality &amp; Privacy</vt:lpstr>
      <vt:lpstr>Core Legal Provisions on Confidentiality &amp; Privacy</vt:lpstr>
      <vt:lpstr>Procedural Aspects &amp; Enforcement Mechanisms</vt:lpstr>
      <vt:lpstr>Procedural Aspects &amp; Enforcement Mechanisms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Breach of Confidentiality  and Privacy under  the IT Act</dc:title>
  <dc:creator>Mohamed Nihal</dc:creator>
  <cp:lastModifiedBy>Admin</cp:lastModifiedBy>
  <cp:revision>8</cp:revision>
  <dcterms:created xsi:type="dcterms:W3CDTF">2026-03-25T14:22:16Z</dcterms:created>
  <dcterms:modified xsi:type="dcterms:W3CDTF">2026-04-24T06:29:28Z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